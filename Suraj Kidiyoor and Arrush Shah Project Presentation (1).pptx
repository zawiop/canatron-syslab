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Proxima Nova"/>
      <p:regular r:id="rId54"/>
      <p:bold r:id="rId55"/>
      <p:italic r:id="rId56"/>
      <p:boldItalic r:id="rId57"/>
    </p:embeddedFont>
    <p:embeddedFont>
      <p:font typeface="Amatic SC"/>
      <p:regular r:id="rId58"/>
      <p:bold r:id="rId59"/>
    </p:embeddedFont>
    <p:embeddedFont>
      <p:font typeface="Alfa Slab One"/>
      <p:regular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rrush Shah (Studen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AlfaSlabOn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ProximaNova-bold.fntdata"/><Relationship Id="rId10" Type="http://schemas.openxmlformats.org/officeDocument/2006/relationships/slide" Target="slides/slide4.xml"/><Relationship Id="rId54" Type="http://schemas.openxmlformats.org/officeDocument/2006/relationships/font" Target="fonts/ProximaNova-regular.fntdata"/><Relationship Id="rId13" Type="http://schemas.openxmlformats.org/officeDocument/2006/relationships/slide" Target="slides/slide7.xml"/><Relationship Id="rId57" Type="http://schemas.openxmlformats.org/officeDocument/2006/relationships/font" Target="fonts/ProximaNova-boldItalic.fntdata"/><Relationship Id="rId12" Type="http://schemas.openxmlformats.org/officeDocument/2006/relationships/slide" Target="slides/slide6.xml"/><Relationship Id="rId56" Type="http://schemas.openxmlformats.org/officeDocument/2006/relationships/font" Target="fonts/ProximaNova-italic.fntdata"/><Relationship Id="rId15" Type="http://schemas.openxmlformats.org/officeDocument/2006/relationships/slide" Target="slides/slide9.xml"/><Relationship Id="rId59" Type="http://schemas.openxmlformats.org/officeDocument/2006/relationships/font" Target="fonts/AmaticSC-bold.fntdata"/><Relationship Id="rId14" Type="http://schemas.openxmlformats.org/officeDocument/2006/relationships/slide" Target="slides/slide8.xml"/><Relationship Id="rId58" Type="http://schemas.openxmlformats.org/officeDocument/2006/relationships/font" Target="fonts/AmaticSC-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8T18:09:19.558">
    <p:pos x="196" y="725"/>
    <p:text>add image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edd1531c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edd1531c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Catan has many factors in the game, so it is difficult to make an algorithm that will find the best move every time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edd1531c4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edd1531c4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Catan is a strategy board game where 2-4 players try their best to gain 10 victory points. Victory points can be obtained by building settlements and cities, or by performing special tasks like holding the longest road or having the largest army. The game is played in turns, in which each player rolls a dice to land on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5aa10b5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5aa10b5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Catan is a strategy board game where 2-4 players try their best to gain 10 victory points. Victory points can be obtained by building settlements and cities, or by performing special tasks like holding the longest road or having the largest army. The game is played in turns, in which each player rolls a dice to land on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5c48de269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5c48de269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5c48de26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5c48de26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5c48de269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5c48de26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5c48de26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5c48de26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5c48de26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5c48de26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5c48de26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85c48de26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5c48de26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5c48de26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f9354487b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f9354487b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5aa10b50b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5aa10b50b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5aa10b50b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5aa10b50b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5aa10b50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5aa10b50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5aa10b50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5aa10b50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31ef2120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31ef2120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31ef212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31ef212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31ef2120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31ef2120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31ef2120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31ef2120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31ef2120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31ef2120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31ef212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31ef212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31ef2120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31ef2120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626cc792fcf5bd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626cc792fcf5bd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7a3cecd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97a3cecd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31ef2120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31ef2120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8d673d9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8d673d9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8d673d9f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8d673d9f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8c23a0fb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8c23a0fb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8c23a0fb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8c23a0fb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8c23a0f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8c23a0f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8c23a0fb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8c23a0fb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8d673d9f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8d673d9f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f7348c7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f7348c7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f7348c7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f7348c7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f7348c79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f7348c79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8c23a0fb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8c23a0fb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f7348c79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df7348c79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36759ff5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e36759ff5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85c48de269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85c48de26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5c5aea7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85c5aea7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85aa10b50b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85aa10b50b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5aa10b50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5aa10b50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f7348c79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f7348c79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edd1531c4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edd1531c4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edd1531c4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edd1531c4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edd1531c4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edd1531c4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cs.catanatron.com/" TargetMode="Externa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drive.google.com/file/d/1r3JLDokDQRbmuuAeN6-lLJoMVeU3yX9G/view" TargetMode="Externa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1" Type="http://schemas.openxmlformats.org/officeDocument/2006/relationships/hyperlink" Target="https://github.com/bcollazo/catanatron" TargetMode="External"/><Relationship Id="rId10" Type="http://schemas.openxmlformats.org/officeDocument/2006/relationships/hyperlink" Target="https://docs.pytorch.org/tutorials/beginner/basics/buildmodel_tutorial.html" TargetMode="External"/><Relationship Id="rId13" Type="http://schemas.openxmlformats.org/officeDocument/2006/relationships/hyperlink" Target="https://docs.catanatron.com/using-catanatron/interactive-blocks?utm_source=chatgpt.com" TargetMode="External"/><Relationship Id="rId12" Type="http://schemas.openxmlformats.org/officeDocument/2006/relationships/hyperlink" Target="https://docs.catanatron.com/" TargetMode="External"/><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settlers-rl.github.io/" TargetMode="External"/><Relationship Id="rId4" Type="http://schemas.openxmlformats.org/officeDocument/2006/relationships/hyperlink" Target="https://github.com/ikostrikov/pytorch-a2c-ppo-acktr-gail" TargetMode="External"/><Relationship Id="rId9" Type="http://schemas.openxmlformats.org/officeDocument/2006/relationships/hyperlink" Target="https://github.com/bcollazo/catanatron" TargetMode="External"/><Relationship Id="rId15" Type="http://schemas.openxmlformats.org/officeDocument/2006/relationships/hyperlink" Target="https://gymnasium.farama.org/" TargetMode="External"/><Relationship Id="rId14" Type="http://schemas.openxmlformats.org/officeDocument/2006/relationships/hyperlink" Target="https://docs.catanatron.com/advanced/openapi?utm_source=chatgpt.com" TargetMode="External"/><Relationship Id="rId17" Type="http://schemas.openxmlformats.org/officeDocument/2006/relationships/hyperlink" Target="https://sb3-contrib.readthedocs.io/" TargetMode="External"/><Relationship Id="rId16" Type="http://schemas.openxmlformats.org/officeDocument/2006/relationships/hyperlink" Target="https://stable-baselines3.readthedocs.io/" TargetMode="External"/><Relationship Id="rId5" Type="http://schemas.openxmlformats.org/officeDocument/2006/relationships/hyperlink" Target="https://github.com/pytorch/rl" TargetMode="External"/><Relationship Id="rId6" Type="http://schemas.openxmlformats.org/officeDocument/2006/relationships/hyperlink" Target="https://github.com/henrycharlesworth/settlers_of_catan_RL" TargetMode="External"/><Relationship Id="rId18" Type="http://schemas.openxmlformats.org/officeDocument/2006/relationships/hyperlink" Target="https://github.com/Zawiop/canatron-syslab" TargetMode="External"/><Relationship Id="rId7" Type="http://schemas.openxmlformats.org/officeDocument/2006/relationships/hyperlink" Target="https://colonist.io" TargetMode="External"/><Relationship Id="rId8" Type="http://schemas.openxmlformats.org/officeDocument/2006/relationships/hyperlink" Target="https://github.com/jdmonin/JSettlers2"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CaRL - Solving Catan </a:t>
            </a:r>
            <a:r>
              <a:rPr lang="en"/>
              <a:t>using</a:t>
            </a:r>
            <a:r>
              <a:rPr lang="en"/>
              <a:t> RL</a:t>
            </a:r>
            <a:endParaRPr/>
          </a:p>
        </p:txBody>
      </p:sp>
      <p:sp>
        <p:nvSpPr>
          <p:cNvPr id="57" name="Google Shape;57;p13"/>
          <p:cNvSpPr txBox="1"/>
          <p:nvPr>
            <p:ph idx="1" type="subTitle"/>
          </p:nvPr>
        </p:nvSpPr>
        <p:spPr>
          <a:xfrm>
            <a:off x="311700" y="3713125"/>
            <a:ext cx="8520600" cy="10974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Group members: Arrush Shah and Suraj Kidiyoor</a:t>
            </a:r>
            <a:endParaRPr/>
          </a:p>
          <a:p>
            <a:pPr indent="0" lvl="0" marL="0" rtl="0" algn="ctr">
              <a:spcBef>
                <a:spcPts val="0"/>
              </a:spcBef>
              <a:spcAft>
                <a:spcPts val="0"/>
              </a:spcAft>
              <a:buNone/>
            </a:pPr>
            <a:r>
              <a:rPr lang="en"/>
              <a:t>5/20/2026</a:t>
            </a:r>
            <a:endParaRPr/>
          </a:p>
          <a:p>
            <a:pPr indent="0" lvl="0" marL="0" rtl="0" algn="ctr">
              <a:spcBef>
                <a:spcPts val="0"/>
              </a:spcBef>
              <a:spcAft>
                <a:spcPts val="0"/>
              </a:spcAft>
              <a:buNone/>
            </a:pPr>
            <a:r>
              <a:rPr lang="en"/>
              <a:t>Syslab </a:t>
            </a:r>
            <a:r>
              <a:rPr lang="en"/>
              <a:t>P3: Dr. Yilmaz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 sz="2200"/>
              <a:t>We want to make our own Catan bot using Reinforcement learning</a:t>
            </a:r>
            <a:endParaRPr sz="2200"/>
          </a:p>
          <a:p>
            <a:pPr indent="-368300" lvl="0" marL="457200" rtl="0" algn="l">
              <a:lnSpc>
                <a:spcPct val="115000"/>
              </a:lnSpc>
              <a:spcBef>
                <a:spcPts val="1000"/>
              </a:spcBef>
              <a:spcAft>
                <a:spcPts val="0"/>
              </a:spcAft>
              <a:buSzPts val="2200"/>
              <a:buChar char="●"/>
            </a:pPr>
            <a:r>
              <a:rPr lang="en" sz="2200"/>
              <a:t>Building an AI for Catan is difficult because of the many factors in the game</a:t>
            </a:r>
            <a:endParaRPr sz="2200"/>
          </a:p>
          <a:p>
            <a:pPr indent="-368300" lvl="0" marL="457200" rtl="0" algn="l">
              <a:lnSpc>
                <a:spcPct val="115000"/>
              </a:lnSpc>
              <a:spcBef>
                <a:spcPts val="1000"/>
              </a:spcBef>
              <a:spcAft>
                <a:spcPts val="0"/>
              </a:spcAft>
              <a:buSzPts val="2200"/>
              <a:buChar char="●"/>
            </a:pPr>
            <a:r>
              <a:rPr lang="en" sz="2200"/>
              <a:t>We want a flexible algorithm that can improve itself over time</a:t>
            </a:r>
            <a:endParaRPr sz="2200"/>
          </a:p>
          <a:p>
            <a:pPr indent="-368300" lvl="0" marL="457200" rtl="0" algn="l">
              <a:lnSpc>
                <a:spcPct val="115000"/>
              </a:lnSpc>
              <a:spcBef>
                <a:spcPts val="0"/>
              </a:spcBef>
              <a:spcAft>
                <a:spcPts val="0"/>
              </a:spcAft>
              <a:buSzPts val="2200"/>
              <a:buChar char="●"/>
            </a:pPr>
            <a:r>
              <a:rPr lang="en" sz="2200"/>
              <a:t>Lack of current Catan algorithms publicly available</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 sz="2200"/>
              <a:t>What is Catan?</a:t>
            </a:r>
            <a:endParaRPr sz="2200"/>
          </a:p>
          <a:p>
            <a:pPr indent="-368300" lvl="1" marL="914400" rtl="0" algn="l">
              <a:lnSpc>
                <a:spcPct val="115000"/>
              </a:lnSpc>
              <a:spcBef>
                <a:spcPts val="1000"/>
              </a:spcBef>
              <a:spcAft>
                <a:spcPts val="0"/>
              </a:spcAft>
              <a:buSzPts val="2200"/>
              <a:buChar char="○"/>
            </a:pPr>
            <a:r>
              <a:rPr lang="en" sz="2200"/>
              <a:t>Victory Points (VP) are the goal of the game</a:t>
            </a:r>
            <a:endParaRPr sz="2200"/>
          </a:p>
          <a:p>
            <a:pPr indent="-368300" lvl="0" marL="457200" rtl="0" algn="l">
              <a:lnSpc>
                <a:spcPct val="115000"/>
              </a:lnSpc>
              <a:spcBef>
                <a:spcPts val="1000"/>
              </a:spcBef>
              <a:spcAft>
                <a:spcPts val="0"/>
              </a:spcAft>
              <a:buSzPts val="2200"/>
              <a:buChar char="●"/>
            </a:pPr>
            <a:r>
              <a:rPr lang="en" sz="2200"/>
              <a:t>Traditional game AI does not work well with unpredictable conditions</a:t>
            </a:r>
            <a:endParaRPr sz="2200"/>
          </a:p>
          <a:p>
            <a:pPr indent="-368300" lvl="0" marL="457200" rtl="0" algn="l">
              <a:lnSpc>
                <a:spcPct val="115000"/>
              </a:lnSpc>
              <a:spcBef>
                <a:spcPts val="1000"/>
              </a:spcBef>
              <a:spcAft>
                <a:spcPts val="0"/>
              </a:spcAft>
              <a:buSzPts val="2200"/>
              <a:buChar char="●"/>
            </a:pPr>
            <a:r>
              <a:rPr lang="en" sz="2200"/>
              <a:t>Reinforcement learning allows the AI to adapt</a:t>
            </a:r>
            <a:endParaRPr sz="2200"/>
          </a:p>
          <a:p>
            <a:pPr indent="0" lvl="0" marL="0" rtl="0" algn="l">
              <a:lnSpc>
                <a:spcPct val="115000"/>
              </a:lnSpc>
              <a:spcBef>
                <a:spcPts val="1200"/>
              </a:spcBef>
              <a:spcAft>
                <a:spcPts val="1200"/>
              </a:spcAft>
              <a:buNone/>
            </a:pPr>
            <a:r>
              <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3760100" y="0"/>
            <a:ext cx="5383906" cy="4838700"/>
          </a:xfrm>
          <a:prstGeom prst="rect">
            <a:avLst/>
          </a:prstGeom>
          <a:noFill/>
          <a:ln>
            <a:noFill/>
          </a:ln>
        </p:spPr>
      </p:pic>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Starting Board</a:t>
            </a:r>
            <a:endParaRPr/>
          </a:p>
        </p:txBody>
      </p:sp>
      <p:sp>
        <p:nvSpPr>
          <p:cNvPr id="76" name="Google Shape;76;p16"/>
          <p:cNvSpPr txBox="1"/>
          <p:nvPr/>
        </p:nvSpPr>
        <p:spPr>
          <a:xfrm>
            <a:off x="3733350" y="48387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Setup/Starting </a:t>
            </a:r>
            <a:endParaRPr/>
          </a:p>
        </p:txBody>
      </p:sp>
      <p:pic>
        <p:nvPicPr>
          <p:cNvPr id="82" name="Google Shape;82;p17"/>
          <p:cNvPicPr preferRelativeResize="0"/>
          <p:nvPr/>
        </p:nvPicPr>
        <p:blipFill>
          <a:blip r:embed="rId3">
            <a:alphaModFix/>
          </a:blip>
          <a:stretch>
            <a:fillRect/>
          </a:stretch>
        </p:blipFill>
        <p:spPr>
          <a:xfrm>
            <a:off x="3688325" y="0"/>
            <a:ext cx="5663649" cy="4869350"/>
          </a:xfrm>
          <a:prstGeom prst="rect">
            <a:avLst/>
          </a:prstGeom>
          <a:noFill/>
          <a:ln>
            <a:noFill/>
          </a:ln>
        </p:spPr>
      </p:pic>
      <p:sp>
        <p:nvSpPr>
          <p:cNvPr id="83" name="Google Shape;83;p17"/>
          <p:cNvSpPr txBox="1"/>
          <p:nvPr/>
        </p:nvSpPr>
        <p:spPr>
          <a:xfrm>
            <a:off x="3733350" y="48387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After setup phase is complete + First turn</a:t>
            </a:r>
            <a:endParaRPr/>
          </a:p>
        </p:txBody>
      </p:sp>
      <p:pic>
        <p:nvPicPr>
          <p:cNvPr id="89" name="Google Shape;89;p18"/>
          <p:cNvPicPr preferRelativeResize="0"/>
          <p:nvPr/>
        </p:nvPicPr>
        <p:blipFill>
          <a:blip r:embed="rId3">
            <a:alphaModFix/>
          </a:blip>
          <a:stretch>
            <a:fillRect/>
          </a:stretch>
        </p:blipFill>
        <p:spPr>
          <a:xfrm>
            <a:off x="1033725" y="1322525"/>
            <a:ext cx="7259146" cy="3820976"/>
          </a:xfrm>
          <a:prstGeom prst="rect">
            <a:avLst/>
          </a:prstGeom>
          <a:noFill/>
          <a:ln>
            <a:noFill/>
          </a:ln>
        </p:spPr>
      </p:pic>
      <p:sp>
        <p:nvSpPr>
          <p:cNvPr id="90" name="Google Shape;90;p18"/>
          <p:cNvSpPr txBox="1"/>
          <p:nvPr/>
        </p:nvSpPr>
        <p:spPr>
          <a:xfrm>
            <a:off x="8292875" y="49203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roads/settlements</a:t>
            </a:r>
            <a:endParaRPr/>
          </a:p>
        </p:txBody>
      </p:sp>
      <p:pic>
        <p:nvPicPr>
          <p:cNvPr id="96" name="Google Shape;96;p19"/>
          <p:cNvPicPr preferRelativeResize="0"/>
          <p:nvPr/>
        </p:nvPicPr>
        <p:blipFill>
          <a:blip r:embed="rId3">
            <a:alphaModFix/>
          </a:blip>
          <a:stretch>
            <a:fillRect/>
          </a:stretch>
        </p:blipFill>
        <p:spPr>
          <a:xfrm>
            <a:off x="952500" y="1322525"/>
            <a:ext cx="7238999" cy="3820976"/>
          </a:xfrm>
          <a:prstGeom prst="rect">
            <a:avLst/>
          </a:prstGeom>
          <a:noFill/>
          <a:ln>
            <a:noFill/>
          </a:ln>
        </p:spPr>
      </p:pic>
      <p:sp>
        <p:nvSpPr>
          <p:cNvPr id="97" name="Google Shape;97;p19"/>
          <p:cNvSpPr txBox="1"/>
          <p:nvPr/>
        </p:nvSpPr>
        <p:spPr>
          <a:xfrm>
            <a:off x="8292875" y="49203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Rolling a 7, what is a robber?</a:t>
            </a:r>
            <a:endParaRPr/>
          </a:p>
        </p:txBody>
      </p:sp>
      <p:pic>
        <p:nvPicPr>
          <p:cNvPr id="103" name="Google Shape;103;p20"/>
          <p:cNvPicPr preferRelativeResize="0"/>
          <p:nvPr/>
        </p:nvPicPr>
        <p:blipFill>
          <a:blip r:embed="rId3">
            <a:alphaModFix/>
          </a:blip>
          <a:stretch>
            <a:fillRect/>
          </a:stretch>
        </p:blipFill>
        <p:spPr>
          <a:xfrm>
            <a:off x="965838" y="1322525"/>
            <a:ext cx="7212314" cy="3820977"/>
          </a:xfrm>
          <a:prstGeom prst="rect">
            <a:avLst/>
          </a:prstGeom>
          <a:noFill/>
          <a:ln>
            <a:noFill/>
          </a:ln>
        </p:spPr>
      </p:pic>
      <p:sp>
        <p:nvSpPr>
          <p:cNvPr id="104" name="Google Shape;104;p20"/>
          <p:cNvSpPr txBox="1"/>
          <p:nvPr/>
        </p:nvSpPr>
        <p:spPr>
          <a:xfrm>
            <a:off x="8292875" y="49203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Trading</a:t>
            </a:r>
            <a:endParaRPr/>
          </a:p>
        </p:txBody>
      </p:sp>
      <p:pic>
        <p:nvPicPr>
          <p:cNvPr id="110" name="Google Shape;110;p21"/>
          <p:cNvPicPr preferRelativeResize="0"/>
          <p:nvPr/>
        </p:nvPicPr>
        <p:blipFill>
          <a:blip r:embed="rId3">
            <a:alphaModFix/>
          </a:blip>
          <a:stretch>
            <a:fillRect/>
          </a:stretch>
        </p:blipFill>
        <p:spPr>
          <a:xfrm>
            <a:off x="952500" y="1322525"/>
            <a:ext cx="7238999" cy="3820976"/>
          </a:xfrm>
          <a:prstGeom prst="rect">
            <a:avLst/>
          </a:prstGeom>
          <a:noFill/>
          <a:ln>
            <a:noFill/>
          </a:ln>
        </p:spPr>
      </p:pic>
      <p:sp>
        <p:nvSpPr>
          <p:cNvPr id="111" name="Google Shape;111;p21"/>
          <p:cNvSpPr txBox="1"/>
          <p:nvPr/>
        </p:nvSpPr>
        <p:spPr>
          <a:xfrm>
            <a:off x="8292875" y="49203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Development Cards</a:t>
            </a:r>
            <a:endParaRPr/>
          </a:p>
        </p:txBody>
      </p:sp>
      <p:pic>
        <p:nvPicPr>
          <p:cNvPr id="117" name="Google Shape;117;p22"/>
          <p:cNvPicPr preferRelativeResize="0"/>
          <p:nvPr/>
        </p:nvPicPr>
        <p:blipFill rotWithShape="1">
          <a:blip r:embed="rId3">
            <a:alphaModFix/>
          </a:blip>
          <a:srcRect b="0" l="0" r="0" t="11723"/>
          <a:stretch/>
        </p:blipFill>
        <p:spPr>
          <a:xfrm>
            <a:off x="513963" y="1374650"/>
            <a:ext cx="8116076" cy="3372975"/>
          </a:xfrm>
          <a:prstGeom prst="rect">
            <a:avLst/>
          </a:prstGeom>
          <a:noFill/>
          <a:ln>
            <a:noFill/>
          </a:ln>
        </p:spPr>
      </p:pic>
      <p:sp>
        <p:nvSpPr>
          <p:cNvPr id="118" name="Google Shape;118;p22"/>
          <p:cNvSpPr txBox="1"/>
          <p:nvPr/>
        </p:nvSpPr>
        <p:spPr>
          <a:xfrm>
            <a:off x="8292875" y="49203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Victory points and ending the game</a:t>
            </a:r>
            <a:endParaRPr/>
          </a:p>
        </p:txBody>
      </p:sp>
      <p:pic>
        <p:nvPicPr>
          <p:cNvPr id="124" name="Google Shape;124;p23"/>
          <p:cNvPicPr preferRelativeResize="0"/>
          <p:nvPr/>
        </p:nvPicPr>
        <p:blipFill>
          <a:blip r:embed="rId3">
            <a:alphaModFix/>
          </a:blip>
          <a:stretch>
            <a:fillRect/>
          </a:stretch>
        </p:blipFill>
        <p:spPr>
          <a:xfrm>
            <a:off x="652463" y="1347650"/>
            <a:ext cx="7839075" cy="3219450"/>
          </a:xfrm>
          <a:prstGeom prst="rect">
            <a:avLst/>
          </a:prstGeom>
          <a:noFill/>
          <a:ln>
            <a:noFill/>
          </a:ln>
        </p:spPr>
      </p:pic>
      <p:pic>
        <p:nvPicPr>
          <p:cNvPr id="125" name="Google Shape;125;p23"/>
          <p:cNvPicPr preferRelativeResize="0"/>
          <p:nvPr/>
        </p:nvPicPr>
        <p:blipFill>
          <a:blip r:embed="rId4">
            <a:alphaModFix/>
          </a:blip>
          <a:stretch>
            <a:fillRect/>
          </a:stretch>
        </p:blipFill>
        <p:spPr>
          <a:xfrm>
            <a:off x="6465050" y="1809225"/>
            <a:ext cx="1865075" cy="1152673"/>
          </a:xfrm>
          <a:prstGeom prst="rect">
            <a:avLst/>
          </a:prstGeom>
          <a:noFill/>
          <a:ln>
            <a:noFill/>
          </a:ln>
        </p:spPr>
      </p:pic>
      <p:sp>
        <p:nvSpPr>
          <p:cNvPr id="126" name="Google Shape;126;p23"/>
          <p:cNvSpPr txBox="1"/>
          <p:nvPr/>
        </p:nvSpPr>
        <p:spPr>
          <a:xfrm>
            <a:off x="8330125" y="4732600"/>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#5</a:t>
            </a:r>
            <a:endParaRPr i="1" sz="900">
              <a:solidFill>
                <a:schemeClr val="dk2"/>
              </a:solidFill>
              <a:latin typeface="Proxima Nova"/>
              <a:ea typeface="Proxima Nova"/>
              <a:cs typeface="Proxima Nova"/>
              <a:sym typeface="Proxima Nova"/>
            </a:endParaRPr>
          </a:p>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2: #5</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SOLUTIONS</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lnSpc>
                <a:spcPct val="200000"/>
              </a:lnSpc>
              <a:spcBef>
                <a:spcPts val="0"/>
              </a:spcBef>
              <a:spcAft>
                <a:spcPts val="0"/>
              </a:spcAft>
              <a:buSzPts val="2200"/>
              <a:buChar char="●"/>
            </a:pPr>
            <a:r>
              <a:rPr lang="en" sz="2200"/>
              <a:t>Rule-based bots</a:t>
            </a:r>
            <a:endParaRPr sz="2200"/>
          </a:p>
          <a:p>
            <a:pPr indent="-368300" lvl="0" marL="457200" rtl="0" algn="l">
              <a:lnSpc>
                <a:spcPct val="200000"/>
              </a:lnSpc>
              <a:spcBef>
                <a:spcPts val="0"/>
              </a:spcBef>
              <a:spcAft>
                <a:spcPts val="0"/>
              </a:spcAft>
              <a:buSzPts val="2200"/>
              <a:buChar char="●"/>
            </a:pPr>
            <a:r>
              <a:rPr lang="en" sz="2200"/>
              <a:t>Search-based methods</a:t>
            </a:r>
            <a:endParaRPr sz="2200"/>
          </a:p>
          <a:p>
            <a:pPr indent="-368300" lvl="0" marL="457200" rtl="0" algn="l">
              <a:lnSpc>
                <a:spcPct val="200000"/>
              </a:lnSpc>
              <a:spcBef>
                <a:spcPts val="0"/>
              </a:spcBef>
              <a:spcAft>
                <a:spcPts val="0"/>
              </a:spcAft>
              <a:buSzPts val="2200"/>
              <a:buChar char="●"/>
            </a:pPr>
            <a:r>
              <a:rPr lang="en" sz="2200"/>
              <a:t>Supervised Learning</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Rule Based Bots</a:t>
            </a:r>
            <a:endParaRPr/>
          </a:p>
        </p:txBody>
      </p:sp>
      <p:sp>
        <p:nvSpPr>
          <p:cNvPr id="138" name="Google Shape;138;p2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JAVA GUI (JSettlers2)</a:t>
            </a:r>
            <a:endParaRPr sz="2200"/>
          </a:p>
          <a:p>
            <a:pPr indent="-368300" lvl="0" marL="457200" rtl="0" algn="l">
              <a:spcBef>
                <a:spcPts val="0"/>
              </a:spcBef>
              <a:spcAft>
                <a:spcPts val="0"/>
              </a:spcAft>
              <a:buSzPts val="2200"/>
              <a:buChar char="●"/>
            </a:pPr>
            <a:r>
              <a:rPr lang="en" sz="2200"/>
              <a:t>Although</a:t>
            </a:r>
            <a:r>
              <a:rPr lang="en" sz="2200"/>
              <a:t> up to date, not adaptable</a:t>
            </a:r>
            <a:endParaRPr sz="2200"/>
          </a:p>
        </p:txBody>
      </p:sp>
      <p:pic>
        <p:nvPicPr>
          <p:cNvPr id="139" name="Google Shape;139;p25"/>
          <p:cNvPicPr preferRelativeResize="0"/>
          <p:nvPr/>
        </p:nvPicPr>
        <p:blipFill>
          <a:blip r:embed="rId3">
            <a:alphaModFix/>
          </a:blip>
          <a:stretch>
            <a:fillRect/>
          </a:stretch>
        </p:blipFill>
        <p:spPr>
          <a:xfrm>
            <a:off x="4572002" y="1152475"/>
            <a:ext cx="4580926" cy="3359050"/>
          </a:xfrm>
          <a:prstGeom prst="rect">
            <a:avLst/>
          </a:prstGeom>
          <a:noFill/>
          <a:ln>
            <a:noFill/>
          </a:ln>
        </p:spPr>
      </p:pic>
      <p:sp>
        <p:nvSpPr>
          <p:cNvPr id="140" name="Google Shape;140;p25"/>
          <p:cNvSpPr txBox="1"/>
          <p:nvPr/>
        </p:nvSpPr>
        <p:spPr>
          <a:xfrm>
            <a:off x="8355500" y="4884775"/>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#6</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 Based Methods</a:t>
            </a:r>
            <a:endParaRPr/>
          </a:p>
        </p:txBody>
      </p:sp>
      <p:sp>
        <p:nvSpPr>
          <p:cNvPr id="146" name="Google Shape;146;p26"/>
          <p:cNvSpPr txBox="1"/>
          <p:nvPr>
            <p:ph idx="1" type="body"/>
          </p:nvPr>
        </p:nvSpPr>
        <p:spPr>
          <a:xfrm>
            <a:off x="311700" y="1152475"/>
            <a:ext cx="46542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Implementations</a:t>
            </a:r>
            <a:r>
              <a:rPr lang="en" sz="2200"/>
              <a:t> utilize Alpha-Beta, as well as A-Star</a:t>
            </a:r>
            <a:endParaRPr sz="2200"/>
          </a:p>
          <a:p>
            <a:pPr indent="-368300" lvl="0" marL="457200" rtl="0" algn="l">
              <a:spcBef>
                <a:spcPts val="0"/>
              </a:spcBef>
              <a:spcAft>
                <a:spcPts val="0"/>
              </a:spcAft>
              <a:buSzPts val="2200"/>
              <a:buChar char="●"/>
            </a:pPr>
            <a:r>
              <a:rPr lang="en" sz="2200"/>
              <a:t>High computing cost</a:t>
            </a:r>
            <a:endParaRPr sz="2200"/>
          </a:p>
          <a:p>
            <a:pPr indent="-368300" lvl="0" marL="457200" rtl="0" algn="l">
              <a:spcBef>
                <a:spcPts val="0"/>
              </a:spcBef>
              <a:spcAft>
                <a:spcPts val="0"/>
              </a:spcAft>
              <a:buSzPts val="2200"/>
              <a:buChar char="●"/>
            </a:pPr>
            <a:r>
              <a:rPr lang="en" sz="2200"/>
              <a:t>Non-deterministic game (dice rolls)</a:t>
            </a:r>
            <a:endParaRPr sz="2200"/>
          </a:p>
        </p:txBody>
      </p:sp>
      <p:pic>
        <p:nvPicPr>
          <p:cNvPr id="147" name="Google Shape;147;p26"/>
          <p:cNvPicPr preferRelativeResize="0"/>
          <p:nvPr/>
        </p:nvPicPr>
        <p:blipFill>
          <a:blip r:embed="rId3">
            <a:alphaModFix/>
          </a:blip>
          <a:stretch>
            <a:fillRect/>
          </a:stretch>
        </p:blipFill>
        <p:spPr>
          <a:xfrm>
            <a:off x="5069125" y="973900"/>
            <a:ext cx="4074876" cy="3900749"/>
          </a:xfrm>
          <a:prstGeom prst="rect">
            <a:avLst/>
          </a:prstGeom>
          <a:noFill/>
          <a:ln>
            <a:noFill/>
          </a:ln>
        </p:spPr>
      </p:pic>
      <p:sp>
        <p:nvSpPr>
          <p:cNvPr id="148" name="Google Shape;148;p26"/>
          <p:cNvSpPr txBox="1"/>
          <p:nvPr/>
        </p:nvSpPr>
        <p:spPr>
          <a:xfrm>
            <a:off x="8355500" y="4884775"/>
            <a:ext cx="1562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2"/>
                </a:solidFill>
                <a:latin typeface="Proxima Nova"/>
                <a:ea typeface="Proxima Nova"/>
                <a:cs typeface="Proxima Nova"/>
                <a:sym typeface="Proxima Nova"/>
              </a:rPr>
              <a:t>Figure 1: #7</a:t>
            </a:r>
            <a:endParaRPr i="1" sz="900">
              <a:solidFill>
                <a:schemeClr val="dk2"/>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Supervised Learning</a:t>
            </a:r>
            <a:endParaRPr/>
          </a:p>
        </p:txBody>
      </p:sp>
      <p:sp>
        <p:nvSpPr>
          <p:cNvPr id="154" name="Google Shape;15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Not viable for Catan because of lack of datasets</a:t>
            </a:r>
            <a:endParaRPr sz="2200"/>
          </a:p>
          <a:p>
            <a:pPr indent="-368300" lvl="0" marL="457200" rtl="0" algn="l">
              <a:spcBef>
                <a:spcPts val="0"/>
              </a:spcBef>
              <a:spcAft>
                <a:spcPts val="0"/>
              </a:spcAft>
              <a:buSzPts val="2200"/>
              <a:buChar char="●"/>
            </a:pPr>
            <a:r>
              <a:rPr lang="en" sz="2200"/>
              <a:t>Catanatron implements this somewhat, but a dependence on it can lead to overfitting</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a:t>
            </a:r>
            <a:endParaRPr/>
          </a:p>
        </p:txBody>
      </p:sp>
      <p:sp>
        <p:nvSpPr>
          <p:cNvPr id="160" name="Google Shape;16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Advances in a field that has seen no recent updates (Most popular results </a:t>
            </a:r>
            <a:r>
              <a:rPr lang="en" sz="2200"/>
              <a:t>haven’t been updated in 5 years)</a:t>
            </a:r>
            <a:endParaRPr sz="2200"/>
          </a:p>
          <a:p>
            <a:pPr indent="-368300" lvl="0" marL="457200" rtl="0" algn="l">
              <a:spcBef>
                <a:spcPts val="0"/>
              </a:spcBef>
              <a:spcAft>
                <a:spcPts val="0"/>
              </a:spcAft>
              <a:buSzPts val="2200"/>
              <a:buChar char="●"/>
            </a:pPr>
            <a:r>
              <a:rPr lang="en" sz="2200"/>
              <a:t>Progress research into game theory</a:t>
            </a:r>
            <a:endParaRPr sz="2200"/>
          </a:p>
          <a:p>
            <a:pPr indent="-368300" lvl="0" marL="457200" rtl="0" algn="l">
              <a:spcBef>
                <a:spcPts val="0"/>
              </a:spcBef>
              <a:spcAft>
                <a:spcPts val="0"/>
              </a:spcAft>
              <a:buSzPts val="2200"/>
              <a:buChar char="●"/>
            </a:pPr>
            <a:r>
              <a:rPr lang="en" sz="2200"/>
              <a:t>Allow people to play against stronger and smarter Catan bots to help them train and learn</a:t>
            </a: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Reinforcement Learning?</a:t>
            </a:r>
            <a:endParaRPr/>
          </a:p>
        </p:txBody>
      </p:sp>
      <p:sp>
        <p:nvSpPr>
          <p:cNvPr id="166" name="Google Shape;166;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rgbClr val="000000"/>
                </a:solidFill>
              </a:rPr>
              <a:t>Reinforcement learning is a framework where an agent:</a:t>
            </a:r>
            <a:endParaRPr>
              <a:solidFill>
                <a:srgbClr val="000000"/>
              </a:solidFill>
            </a:endParaRPr>
          </a:p>
          <a:p>
            <a:pPr indent="-342900" lvl="0" marL="457200" rtl="0" algn="l">
              <a:spcBef>
                <a:spcPts val="1200"/>
              </a:spcBef>
              <a:spcAft>
                <a:spcPts val="0"/>
              </a:spcAft>
              <a:buClr>
                <a:srgbClr val="000000"/>
              </a:buClr>
              <a:buSzPts val="1800"/>
              <a:buFont typeface="Proxima Nova"/>
              <a:buAutoNum type="arabicPeriod"/>
            </a:pPr>
            <a:r>
              <a:rPr lang="en">
                <a:solidFill>
                  <a:srgbClr val="000000"/>
                </a:solidFill>
              </a:rPr>
              <a:t>Observes a state</a:t>
            </a:r>
            <a:br>
              <a:rPr lang="en">
                <a:solidFill>
                  <a:srgbClr val="000000"/>
                </a:solidFill>
              </a:rPr>
            </a:br>
            <a:endParaRPr>
              <a:solidFill>
                <a:srgbClr val="000000"/>
              </a:solidFill>
            </a:endParaRPr>
          </a:p>
          <a:p>
            <a:pPr indent="-342900" lvl="0" marL="457200" rtl="0" algn="l">
              <a:spcBef>
                <a:spcPts val="0"/>
              </a:spcBef>
              <a:spcAft>
                <a:spcPts val="0"/>
              </a:spcAft>
              <a:buClr>
                <a:srgbClr val="000000"/>
              </a:buClr>
              <a:buSzPts val="1800"/>
              <a:buFont typeface="Proxima Nova"/>
              <a:buAutoNum type="arabicPeriod"/>
            </a:pPr>
            <a:r>
              <a:rPr lang="en">
                <a:solidFill>
                  <a:srgbClr val="000000"/>
                </a:solidFill>
              </a:rPr>
              <a:t>Takes an action</a:t>
            </a:r>
            <a:br>
              <a:rPr lang="en">
                <a:solidFill>
                  <a:srgbClr val="000000"/>
                </a:solidFill>
              </a:rPr>
            </a:br>
            <a:endParaRPr>
              <a:solidFill>
                <a:srgbClr val="000000"/>
              </a:solidFill>
            </a:endParaRPr>
          </a:p>
          <a:p>
            <a:pPr indent="-342900" lvl="0" marL="457200" rtl="0" algn="l">
              <a:spcBef>
                <a:spcPts val="0"/>
              </a:spcBef>
              <a:spcAft>
                <a:spcPts val="0"/>
              </a:spcAft>
              <a:buClr>
                <a:srgbClr val="000000"/>
              </a:buClr>
              <a:buSzPts val="1800"/>
              <a:buFont typeface="Proxima Nova"/>
              <a:buAutoNum type="arabicPeriod"/>
            </a:pPr>
            <a:r>
              <a:rPr lang="en">
                <a:solidFill>
                  <a:srgbClr val="000000"/>
                </a:solidFill>
              </a:rPr>
              <a:t>Receives a reward</a:t>
            </a:r>
            <a:br>
              <a:rPr lang="en">
                <a:solidFill>
                  <a:srgbClr val="000000"/>
                </a:solidFill>
              </a:rPr>
            </a:br>
            <a:endParaRPr>
              <a:solidFill>
                <a:srgbClr val="000000"/>
              </a:solidFill>
            </a:endParaRPr>
          </a:p>
          <a:p>
            <a:pPr indent="-342900" lvl="0" marL="457200" rtl="0" algn="l">
              <a:spcBef>
                <a:spcPts val="0"/>
              </a:spcBef>
              <a:spcAft>
                <a:spcPts val="0"/>
              </a:spcAft>
              <a:buClr>
                <a:srgbClr val="000000"/>
              </a:buClr>
              <a:buSzPts val="1800"/>
              <a:buFont typeface="Proxima Nova"/>
              <a:buAutoNum type="arabicPeriod"/>
            </a:pPr>
            <a:r>
              <a:rPr lang="en">
                <a:solidFill>
                  <a:srgbClr val="000000"/>
                </a:solidFill>
              </a:rPr>
              <a:t>Transitions to a new state</a:t>
            </a:r>
            <a:br>
              <a:rPr lang="en">
                <a:solidFill>
                  <a:srgbClr val="000000"/>
                </a:solidFill>
              </a:rPr>
            </a:br>
            <a:endParaRPr>
              <a:solidFill>
                <a:srgbClr val="000000"/>
              </a:solidFill>
            </a:endParaRPr>
          </a:p>
          <a:p>
            <a:pPr indent="-342900" lvl="0" marL="457200" rtl="0" algn="l">
              <a:spcBef>
                <a:spcPts val="0"/>
              </a:spcBef>
              <a:spcAft>
                <a:spcPts val="0"/>
              </a:spcAft>
              <a:buClr>
                <a:srgbClr val="000000"/>
              </a:buClr>
              <a:buSzPts val="1800"/>
              <a:buFont typeface="Proxima Nova"/>
              <a:buAutoNum type="arabicPeriod"/>
            </a:pPr>
            <a:r>
              <a:rPr lang="en">
                <a:solidFill>
                  <a:srgbClr val="000000"/>
                </a:solidFill>
              </a:rPr>
              <a:t>Uses that experience to improve future decisions</a:t>
            </a:r>
            <a:endParaRPr>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PACKAGES</a:t>
            </a:r>
            <a:endParaRPr/>
          </a:p>
        </p:txBody>
      </p:sp>
      <p:sp>
        <p:nvSpPr>
          <p:cNvPr id="172" name="Google Shape;172;p30"/>
          <p:cNvSpPr txBox="1"/>
          <p:nvPr>
            <p:ph idx="1" type="body"/>
          </p:nvPr>
        </p:nvSpPr>
        <p:spPr>
          <a:xfrm>
            <a:off x="4156275" y="1244250"/>
            <a:ext cx="46761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Used to host the </a:t>
            </a:r>
            <a:r>
              <a:rPr lang="en"/>
              <a:t>environment</a:t>
            </a:r>
            <a:r>
              <a:rPr lang="en"/>
              <a:t> of the game and get the data from it.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Used for most </a:t>
            </a:r>
            <a:r>
              <a:rPr lang="en"/>
              <a:t>scientific</a:t>
            </a:r>
            <a:r>
              <a:rPr lang="en"/>
              <a:t> calculations on python, and from C++ (which makes it faster)</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73" name="Google Shape;173;p30"/>
          <p:cNvPicPr preferRelativeResize="0"/>
          <p:nvPr/>
        </p:nvPicPr>
        <p:blipFill>
          <a:blip r:embed="rId3">
            <a:alphaModFix/>
          </a:blip>
          <a:stretch>
            <a:fillRect/>
          </a:stretch>
        </p:blipFill>
        <p:spPr>
          <a:xfrm>
            <a:off x="311700" y="1244250"/>
            <a:ext cx="3844577" cy="1024950"/>
          </a:xfrm>
          <a:prstGeom prst="rect">
            <a:avLst/>
          </a:prstGeom>
          <a:noFill/>
          <a:ln>
            <a:noFill/>
          </a:ln>
        </p:spPr>
      </p:pic>
      <p:sp>
        <p:nvSpPr>
          <p:cNvPr id="174" name="Google Shape;174;p30"/>
          <p:cNvSpPr txBox="1"/>
          <p:nvPr/>
        </p:nvSpPr>
        <p:spPr>
          <a:xfrm>
            <a:off x="667125" y="2922200"/>
            <a:ext cx="2600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222832"/>
                </a:solidFill>
                <a:highlight>
                  <a:srgbClr val="FFFFFF"/>
                </a:highlight>
              </a:rPr>
              <a:t>NumPy</a:t>
            </a:r>
            <a:endParaRPr sz="4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PACKAGES</a:t>
            </a:r>
            <a:endParaRPr/>
          </a:p>
        </p:txBody>
      </p:sp>
      <p:sp>
        <p:nvSpPr>
          <p:cNvPr id="180" name="Google Shape;180;p31"/>
          <p:cNvSpPr txBox="1"/>
          <p:nvPr>
            <p:ph idx="1" type="body"/>
          </p:nvPr>
        </p:nvSpPr>
        <p:spPr>
          <a:xfrm>
            <a:off x="4126650" y="1152475"/>
            <a:ext cx="4705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Stable_baselines3</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Arguably the most important package. Creates the reinforcement learning behind the robot, and allows for simple implementation and customization of </a:t>
            </a:r>
            <a:r>
              <a:rPr lang="en"/>
              <a:t>variables (such as reward, and training time)</a:t>
            </a:r>
            <a:endParaRPr/>
          </a:p>
        </p:txBody>
      </p:sp>
      <p:pic>
        <p:nvPicPr>
          <p:cNvPr id="181" name="Google Shape;181;p31"/>
          <p:cNvPicPr preferRelativeResize="0"/>
          <p:nvPr/>
        </p:nvPicPr>
        <p:blipFill>
          <a:blip r:embed="rId3">
            <a:alphaModFix/>
          </a:blip>
          <a:stretch>
            <a:fillRect/>
          </a:stretch>
        </p:blipFill>
        <p:spPr>
          <a:xfrm>
            <a:off x="311700" y="1152475"/>
            <a:ext cx="3904457" cy="3416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t>
            </a:r>
            <a:r>
              <a:rPr lang="en"/>
              <a:t> BREAKDOWN</a:t>
            </a:r>
            <a:endParaRPr/>
          </a:p>
        </p:txBody>
      </p:sp>
      <p:sp>
        <p:nvSpPr>
          <p:cNvPr id="187" name="Google Shape;187;p32"/>
          <p:cNvSpPr txBox="1"/>
          <p:nvPr>
            <p:ph idx="1" type="body"/>
          </p:nvPr>
        </p:nvSpPr>
        <p:spPr>
          <a:xfrm>
            <a:off x="3650825" y="1152475"/>
            <a:ext cx="5181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t>
            </a:r>
            <a:r>
              <a:rPr lang="en"/>
              <a:t>environment</a:t>
            </a:r>
            <a:r>
              <a:rPr lang="en"/>
              <a:t> is from the creators of catanatron (</a:t>
            </a:r>
            <a:r>
              <a:rPr lang="en" u="sng">
                <a:solidFill>
                  <a:schemeClr val="hlink"/>
                </a:solidFill>
                <a:hlinkClick r:id="rId3"/>
              </a:rPr>
              <a:t>https://docs.catanatron.com/</a:t>
            </a:r>
            <a:r>
              <a:rPr lang="en"/>
              <a:t>) and their </a:t>
            </a:r>
            <a:r>
              <a:rPr lang="en"/>
              <a:t>environment and bots are going to be used to train our model. </a:t>
            </a:r>
            <a:endParaRPr/>
          </a:p>
        </p:txBody>
      </p:sp>
      <p:pic>
        <p:nvPicPr>
          <p:cNvPr id="188" name="Google Shape;188;p32"/>
          <p:cNvPicPr preferRelativeResize="0"/>
          <p:nvPr/>
        </p:nvPicPr>
        <p:blipFill>
          <a:blip r:embed="rId4">
            <a:alphaModFix/>
          </a:blip>
          <a:stretch>
            <a:fillRect/>
          </a:stretch>
        </p:blipFill>
        <p:spPr>
          <a:xfrm>
            <a:off x="81930" y="1152475"/>
            <a:ext cx="3568895" cy="34164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 BREAKDOWN</a:t>
            </a:r>
            <a:endParaRPr/>
          </a:p>
        </p:txBody>
      </p:sp>
      <p:sp>
        <p:nvSpPr>
          <p:cNvPr id="194" name="Google Shape;194;p33"/>
          <p:cNvSpPr txBox="1"/>
          <p:nvPr>
            <p:ph idx="1" type="body"/>
          </p:nvPr>
        </p:nvSpPr>
        <p:spPr>
          <a:xfrm>
            <a:off x="3650825" y="1152475"/>
            <a:ext cx="5181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Reasoning for use:</a:t>
            </a:r>
            <a:endParaRPr/>
          </a:p>
          <a:p>
            <a:pPr indent="-342900" lvl="0" marL="457200" rtl="0" algn="l">
              <a:spcBef>
                <a:spcPts val="1200"/>
              </a:spcBef>
              <a:spcAft>
                <a:spcPts val="0"/>
              </a:spcAft>
              <a:buSzPts val="1800"/>
              <a:buChar char="●"/>
            </a:pPr>
            <a:r>
              <a:rPr lang="en"/>
              <a:t>Backend with </a:t>
            </a:r>
            <a:r>
              <a:rPr lang="en"/>
              <a:t>gymnasium</a:t>
            </a:r>
            <a:r>
              <a:rPr lang="en"/>
              <a:t> </a:t>
            </a:r>
            <a:endParaRPr/>
          </a:p>
          <a:p>
            <a:pPr indent="-342900" lvl="0" marL="457200" rtl="0" algn="l">
              <a:spcBef>
                <a:spcPts val="0"/>
              </a:spcBef>
              <a:spcAft>
                <a:spcPts val="0"/>
              </a:spcAft>
              <a:buSzPts val="1800"/>
              <a:buChar char="●"/>
            </a:pPr>
            <a:r>
              <a:rPr lang="en"/>
              <a:t>Allows integration of stable_baselines3 to train the model with their simulation ability</a:t>
            </a:r>
            <a:endParaRPr/>
          </a:p>
          <a:p>
            <a:pPr indent="-342900" lvl="0" marL="457200" rtl="0" algn="l">
              <a:spcBef>
                <a:spcPts val="0"/>
              </a:spcBef>
              <a:spcAft>
                <a:spcPts val="0"/>
              </a:spcAft>
              <a:buSzPts val="1800"/>
              <a:buChar char="●"/>
            </a:pPr>
            <a:r>
              <a:rPr lang="en"/>
              <a:t>In the future, we can run testing sessions with their different bots, as shown to the left</a:t>
            </a:r>
            <a:endParaRPr/>
          </a:p>
        </p:txBody>
      </p:sp>
      <p:pic>
        <p:nvPicPr>
          <p:cNvPr id="195" name="Google Shape;195;p33"/>
          <p:cNvPicPr preferRelativeResize="0"/>
          <p:nvPr/>
        </p:nvPicPr>
        <p:blipFill>
          <a:blip r:embed="rId3">
            <a:alphaModFix/>
          </a:blip>
          <a:stretch>
            <a:fillRect/>
          </a:stretch>
        </p:blipFill>
        <p:spPr>
          <a:xfrm>
            <a:off x="0" y="1634174"/>
            <a:ext cx="3650824" cy="234108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a:t>
            </a:r>
            <a:endParaRPr/>
          </a:p>
        </p:txBody>
      </p:sp>
      <p:sp>
        <p:nvSpPr>
          <p:cNvPr id="201" name="Google Shape;201;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The process begins by passing the current environment state to the model</a:t>
            </a:r>
            <a:endParaRPr>
              <a:solidFill>
                <a:srgbClr val="000000"/>
              </a:solidFill>
            </a:endParaRPr>
          </a:p>
          <a:p>
            <a:pPr indent="0" lvl="0" marL="0" rtl="0" algn="l">
              <a:spcBef>
                <a:spcPts val="1200"/>
              </a:spcBef>
              <a:spcAft>
                <a:spcPts val="0"/>
              </a:spcAft>
              <a:buNone/>
            </a:pPr>
            <a:r>
              <a:rPr lang="en">
                <a:solidFill>
                  <a:srgbClr val="000000"/>
                </a:solidFill>
              </a:rPr>
              <a:t>The state represents the full Catan game situation:</a:t>
            </a:r>
            <a:endParaRPr>
              <a:solidFill>
                <a:srgbClr val="000000"/>
              </a:solidFill>
            </a:endParaRPr>
          </a:p>
          <a:p>
            <a:pPr indent="-342900" lvl="0" marL="457200" rtl="0" algn="l">
              <a:spcBef>
                <a:spcPts val="1200"/>
              </a:spcBef>
              <a:spcAft>
                <a:spcPts val="0"/>
              </a:spcAft>
              <a:buClr>
                <a:srgbClr val="000000"/>
              </a:buClr>
              <a:buSzPts val="1800"/>
              <a:buFont typeface="Proxima Nova"/>
              <a:buChar char="●"/>
            </a:pPr>
            <a:r>
              <a:rPr lang="en">
                <a:solidFill>
                  <a:srgbClr val="000000"/>
                </a:solidFill>
              </a:rPr>
              <a:t>Board configuration</a:t>
            </a:r>
            <a:endParaRPr>
              <a:solidFill>
                <a:srgbClr val="000000"/>
              </a:solidFill>
            </a:endParaRPr>
          </a:p>
          <a:p>
            <a:pPr indent="-342900" lvl="0" marL="457200" rtl="0" algn="l">
              <a:spcBef>
                <a:spcPts val="0"/>
              </a:spcBef>
              <a:spcAft>
                <a:spcPts val="0"/>
              </a:spcAft>
              <a:buClr>
                <a:srgbClr val="000000"/>
              </a:buClr>
              <a:buSzPts val="1800"/>
              <a:buFont typeface="Proxima Nova"/>
              <a:buChar char="●"/>
            </a:pPr>
            <a:r>
              <a:rPr lang="en">
                <a:solidFill>
                  <a:srgbClr val="000000"/>
                </a:solidFill>
              </a:rPr>
              <a:t>Player resources and victory points</a:t>
            </a:r>
            <a:endParaRPr>
              <a:solidFill>
                <a:srgbClr val="000000"/>
              </a:solidFill>
            </a:endParaRPr>
          </a:p>
          <a:p>
            <a:pPr indent="-342900" lvl="0" marL="457200" rtl="0" algn="l">
              <a:spcBef>
                <a:spcPts val="0"/>
              </a:spcBef>
              <a:spcAft>
                <a:spcPts val="0"/>
              </a:spcAft>
              <a:buClr>
                <a:srgbClr val="000000"/>
              </a:buClr>
              <a:buSzPts val="1800"/>
              <a:buFont typeface="Proxima Nova"/>
              <a:buChar char="●"/>
            </a:pPr>
            <a:r>
              <a:rPr lang="en">
                <a:solidFill>
                  <a:srgbClr val="000000"/>
                </a:solidFill>
              </a:rPr>
              <a:t>Turn and action constraints</a:t>
            </a:r>
            <a:endParaRPr>
              <a:solidFill>
                <a:srgbClr val="000000"/>
              </a:solidFill>
            </a:endParaRPr>
          </a:p>
          <a:p>
            <a:pPr indent="0" lvl="0" marL="0" rtl="0" algn="l">
              <a:spcBef>
                <a:spcPts val="1200"/>
              </a:spcBef>
              <a:spcAft>
                <a:spcPts val="0"/>
              </a:spcAft>
              <a:buNone/>
            </a:pPr>
            <a:r>
              <a:rPr lang="en">
                <a:solidFill>
                  <a:srgbClr val="000000"/>
                </a:solidFill>
              </a:rPr>
              <a:t>Stable-Baselines3 automatically:</a:t>
            </a:r>
            <a:endParaRPr>
              <a:solidFill>
                <a:srgbClr val="000000"/>
              </a:solidFill>
            </a:endParaRPr>
          </a:p>
          <a:p>
            <a:pPr indent="-342900" lvl="0" marL="457200" rtl="0" algn="l">
              <a:spcBef>
                <a:spcPts val="1200"/>
              </a:spcBef>
              <a:spcAft>
                <a:spcPts val="0"/>
              </a:spcAft>
              <a:buClr>
                <a:srgbClr val="000000"/>
              </a:buClr>
              <a:buSzPts val="1800"/>
              <a:buFont typeface="Proxima Nova"/>
              <a:buChar char="●"/>
            </a:pPr>
            <a:r>
              <a:rPr lang="en">
                <a:solidFill>
                  <a:srgbClr val="000000"/>
                </a:solidFill>
              </a:rPr>
              <a:t>Converts the environment output into a readable format</a:t>
            </a:r>
            <a:endParaRPr>
              <a:solidFill>
                <a:srgbClr val="000000"/>
              </a:solidFill>
            </a:endParaRPr>
          </a:p>
          <a:p>
            <a:pPr indent="-342900" lvl="0" marL="457200" rtl="0" algn="l">
              <a:spcBef>
                <a:spcPts val="0"/>
              </a:spcBef>
              <a:spcAft>
                <a:spcPts val="0"/>
              </a:spcAft>
              <a:buClr>
                <a:srgbClr val="000000"/>
              </a:buClr>
              <a:buSzPts val="1800"/>
              <a:buFont typeface="Proxima Nova"/>
              <a:buChar char="●"/>
            </a:pPr>
            <a:r>
              <a:rPr lang="en">
                <a:solidFill>
                  <a:srgbClr val="000000"/>
                </a:solidFill>
              </a:rPr>
              <a:t>Normalizes and flattens the observation if needed</a:t>
            </a:r>
            <a:endParaRPr>
              <a:solidFill>
                <a:srgbClr val="000000"/>
              </a:solidFill>
            </a:endParaRPr>
          </a:p>
          <a:p>
            <a:pPr indent="0" lvl="0" marL="0" rtl="0" algn="l">
              <a:spcBef>
                <a:spcPts val="1200"/>
              </a:spcBef>
              <a:spcAft>
                <a:spcPts val="0"/>
              </a:spcAft>
              <a:buNone/>
            </a:pPr>
            <a:r>
              <a:rPr lang="en">
                <a:solidFill>
                  <a:srgbClr val="000000"/>
                </a:solidFill>
              </a:rPr>
              <a:t>This encoded state becomes the input vector to the neural network</a:t>
            </a:r>
            <a:endParaRPr>
              <a:solidFill>
                <a:srgbClr val="000000"/>
              </a:solidFill>
            </a:endParaRPr>
          </a:p>
          <a:p>
            <a:pPr indent="0" lvl="0" marL="457200" rtl="0" algn="l">
              <a:spcBef>
                <a:spcPts val="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REINFORCEMENT BACKEND</a:t>
            </a:r>
            <a:endParaRPr/>
          </a:p>
          <a:p>
            <a:pPr indent="0" lvl="0" marL="0" rtl="0" algn="l">
              <a:spcBef>
                <a:spcPts val="0"/>
              </a:spcBef>
              <a:spcAft>
                <a:spcPts val="0"/>
              </a:spcAft>
              <a:buNone/>
            </a:pPr>
            <a:r>
              <a:t/>
            </a:r>
            <a:endParaRPr/>
          </a:p>
        </p:txBody>
      </p:sp>
      <p:sp>
        <p:nvSpPr>
          <p:cNvPr id="207" name="Google Shape;207;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The model uses MaskablePPO </a:t>
            </a:r>
            <a:endParaRPr>
              <a:solidFill>
                <a:srgbClr val="000000"/>
              </a:solidFill>
            </a:endParaRPr>
          </a:p>
          <a:p>
            <a:pPr indent="0" lvl="0" marL="0" rtl="0" algn="l">
              <a:spcBef>
                <a:spcPts val="1200"/>
              </a:spcBef>
              <a:spcAft>
                <a:spcPts val="0"/>
              </a:spcAft>
              <a:buNone/>
            </a:pPr>
            <a:r>
              <a:rPr lang="en">
                <a:solidFill>
                  <a:srgbClr val="000000"/>
                </a:solidFill>
              </a:rPr>
              <a:t>The neural network consists of:</a:t>
            </a:r>
            <a:endParaRPr>
              <a:solidFill>
                <a:srgbClr val="000000"/>
              </a:solidFill>
            </a:endParaRPr>
          </a:p>
          <a:p>
            <a:pPr indent="-342900" lvl="0" marL="457200" rtl="0" algn="l">
              <a:spcBef>
                <a:spcPts val="1200"/>
              </a:spcBef>
              <a:spcAft>
                <a:spcPts val="0"/>
              </a:spcAft>
              <a:buClr>
                <a:srgbClr val="000000"/>
              </a:buClr>
              <a:buSzPts val="1800"/>
              <a:buFont typeface="Proxima Nova"/>
              <a:buChar char="●"/>
            </a:pPr>
            <a:r>
              <a:rPr lang="en">
                <a:solidFill>
                  <a:srgbClr val="000000"/>
                </a:solidFill>
              </a:rPr>
              <a:t>Shared hidden layers or </a:t>
            </a:r>
            <a:r>
              <a:rPr lang="en">
                <a:solidFill>
                  <a:srgbClr val="000000"/>
                </a:solidFill>
              </a:rPr>
              <a:t>Neural</a:t>
            </a:r>
            <a:r>
              <a:rPr lang="en">
                <a:solidFill>
                  <a:srgbClr val="000000"/>
                </a:solidFill>
              </a:rPr>
              <a:t> Network weights</a:t>
            </a:r>
            <a:endParaRPr>
              <a:solidFill>
                <a:srgbClr val="000000"/>
              </a:solidFill>
            </a:endParaRPr>
          </a:p>
          <a:p>
            <a:pPr indent="-342900" lvl="0" marL="457200" rtl="0" algn="l">
              <a:spcBef>
                <a:spcPts val="0"/>
              </a:spcBef>
              <a:spcAft>
                <a:spcPts val="0"/>
              </a:spcAft>
              <a:buClr>
                <a:srgbClr val="000000"/>
              </a:buClr>
              <a:buSzPts val="1800"/>
              <a:buFont typeface="Proxima Nova"/>
              <a:buChar char="●"/>
            </a:pPr>
            <a:r>
              <a:rPr lang="en">
                <a:solidFill>
                  <a:srgbClr val="000000"/>
                </a:solidFill>
              </a:rPr>
              <a:t>Two separate outputs:</a:t>
            </a:r>
            <a:endParaRPr>
              <a:solidFill>
                <a:srgbClr val="000000"/>
              </a:solidFill>
            </a:endParaRPr>
          </a:p>
          <a:p>
            <a:pPr indent="-342900" lvl="1" marL="914400" rtl="0" algn="l">
              <a:spcBef>
                <a:spcPts val="0"/>
              </a:spcBef>
              <a:spcAft>
                <a:spcPts val="0"/>
              </a:spcAft>
              <a:buClr>
                <a:srgbClr val="000000"/>
              </a:buClr>
              <a:buSzPts val="1800"/>
              <a:buFont typeface="Arial"/>
              <a:buChar char="○"/>
            </a:pPr>
            <a:r>
              <a:rPr lang="en" sz="1800">
                <a:solidFill>
                  <a:srgbClr val="000000"/>
                </a:solidFill>
              </a:rPr>
              <a:t>Move valuation (higher score means better move)</a:t>
            </a:r>
            <a:endParaRPr sz="1800">
              <a:solidFill>
                <a:srgbClr val="000000"/>
              </a:solidFill>
            </a:endParaRPr>
          </a:p>
          <a:p>
            <a:pPr indent="-342900" lvl="1" marL="914400" rtl="0" algn="l">
              <a:spcBef>
                <a:spcPts val="0"/>
              </a:spcBef>
              <a:spcAft>
                <a:spcPts val="0"/>
              </a:spcAft>
              <a:buClr>
                <a:srgbClr val="000000"/>
              </a:buClr>
              <a:buSzPts val="1800"/>
              <a:buFont typeface="Arial"/>
              <a:buChar char="○"/>
            </a:pPr>
            <a:r>
              <a:rPr lang="en" sz="1800">
                <a:solidFill>
                  <a:srgbClr val="000000"/>
                </a:solidFill>
              </a:rPr>
              <a:t>Game state (predicts a win, or a loss -1 or 1)</a:t>
            </a: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lang="en">
                <a:solidFill>
                  <a:srgbClr val="000000"/>
                </a:solidFill>
              </a:rPr>
              <a:t>The “Mask” portion of the PPO removes the illegal moves from the move valuations</a:t>
            </a:r>
            <a:endParaRPr sz="18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OVERALL </a:t>
            </a:r>
            <a:r>
              <a:rPr lang="en"/>
              <a:t>ARCHITECTURE</a:t>
            </a:r>
            <a:endParaRPr/>
          </a:p>
        </p:txBody>
      </p:sp>
      <p:sp>
        <p:nvSpPr>
          <p:cNvPr id="213" name="Google Shape;21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4" name="Google Shape;214;p36" title="Screenshot 2026-05-08 at 1.00.09 PM.png"/>
          <p:cNvPicPr preferRelativeResize="0"/>
          <p:nvPr/>
        </p:nvPicPr>
        <p:blipFill>
          <a:blip r:embed="rId3">
            <a:alphaModFix/>
          </a:blip>
          <a:stretch>
            <a:fillRect/>
          </a:stretch>
        </p:blipFill>
        <p:spPr>
          <a:xfrm>
            <a:off x="311700" y="1096413"/>
            <a:ext cx="8520598" cy="35285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Catan Website</a:t>
            </a:r>
            <a:endParaRPr/>
          </a:p>
        </p:txBody>
      </p:sp>
      <p:pic>
        <p:nvPicPr>
          <p:cNvPr id="220" name="Google Shape;220;p37"/>
          <p:cNvPicPr preferRelativeResize="0"/>
          <p:nvPr/>
        </p:nvPicPr>
        <p:blipFill>
          <a:blip r:embed="rId3">
            <a:alphaModFix/>
          </a:blip>
          <a:stretch>
            <a:fillRect/>
          </a:stretch>
        </p:blipFill>
        <p:spPr>
          <a:xfrm>
            <a:off x="3310720" y="0"/>
            <a:ext cx="5833281" cy="51434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REWARD FUNCTION</a:t>
            </a:r>
            <a:endParaRPr/>
          </a:p>
        </p:txBody>
      </p:sp>
      <p:sp>
        <p:nvSpPr>
          <p:cNvPr id="226" name="Google Shape;226;p38"/>
          <p:cNvSpPr txBox="1"/>
          <p:nvPr>
            <p:ph idx="1" type="body"/>
          </p:nvPr>
        </p:nvSpPr>
        <p:spPr>
          <a:xfrm>
            <a:off x="311700" y="1152475"/>
            <a:ext cx="4990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By training the model, currently with this simple reward function we have seen 0 improvement (and just noise) with minimal </a:t>
            </a:r>
            <a:r>
              <a:rPr lang="en"/>
              <a:t>training</a:t>
            </a:r>
            <a:endParaRPr/>
          </a:p>
          <a:p>
            <a:pPr indent="-342900" lvl="0" marL="457200" rtl="0" algn="l">
              <a:spcBef>
                <a:spcPts val="0"/>
              </a:spcBef>
              <a:spcAft>
                <a:spcPts val="0"/>
              </a:spcAft>
              <a:buSzPts val="1800"/>
              <a:buChar char="●"/>
            </a:pPr>
            <a:r>
              <a:rPr lang="en"/>
              <a:t>After 81 </a:t>
            </a:r>
            <a:r>
              <a:rPr lang="en"/>
              <a:t>seconds of training the model seems to be equivalent to randomly choosing a move to play</a:t>
            </a:r>
            <a:r>
              <a:rPr lang="en"/>
              <a:t> </a:t>
            </a:r>
            <a:endParaRPr/>
          </a:p>
        </p:txBody>
      </p:sp>
      <p:pic>
        <p:nvPicPr>
          <p:cNvPr id="227" name="Google Shape;227;p38" title="Screenshot 2026-02-02 at 11.58.31 PM.png"/>
          <p:cNvPicPr preferRelativeResize="0"/>
          <p:nvPr/>
        </p:nvPicPr>
        <p:blipFill>
          <a:blip r:embed="rId3">
            <a:alphaModFix/>
          </a:blip>
          <a:stretch>
            <a:fillRect/>
          </a:stretch>
        </p:blipFill>
        <p:spPr>
          <a:xfrm>
            <a:off x="5302200" y="1017713"/>
            <a:ext cx="3632226" cy="1914125"/>
          </a:xfrm>
          <a:prstGeom prst="rect">
            <a:avLst/>
          </a:prstGeom>
          <a:noFill/>
          <a:ln>
            <a:noFill/>
          </a:ln>
        </p:spPr>
      </p:pic>
      <p:pic>
        <p:nvPicPr>
          <p:cNvPr id="228" name="Google Shape;228;p38" title="Screenshot 2026-02-03 at 12.00.33 AM.png"/>
          <p:cNvPicPr preferRelativeResize="0"/>
          <p:nvPr/>
        </p:nvPicPr>
        <p:blipFill>
          <a:blip r:embed="rId4">
            <a:alphaModFix/>
          </a:blip>
          <a:stretch>
            <a:fillRect/>
          </a:stretch>
        </p:blipFill>
        <p:spPr>
          <a:xfrm>
            <a:off x="5302200" y="3099025"/>
            <a:ext cx="3827450" cy="1665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TESTING</a:t>
            </a:r>
            <a:endParaRPr/>
          </a:p>
        </p:txBody>
      </p:sp>
      <p:sp>
        <p:nvSpPr>
          <p:cNvPr id="234" name="Google Shape;234;p39"/>
          <p:cNvSpPr txBox="1"/>
          <p:nvPr>
            <p:ph idx="1" type="body"/>
          </p:nvPr>
        </p:nvSpPr>
        <p:spPr>
          <a:xfrm>
            <a:off x="311700" y="9491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after 5 million steps (1 hour of training) over 100 games</a:t>
            </a:r>
            <a:endParaRPr/>
          </a:p>
          <a:p>
            <a:pPr indent="0" lvl="0" marL="0" rtl="0" algn="l">
              <a:spcBef>
                <a:spcPts val="1200"/>
              </a:spcBef>
              <a:spcAft>
                <a:spcPts val="1200"/>
              </a:spcAft>
              <a:buNone/>
            </a:pPr>
            <a:r>
              <a:rPr lang="en"/>
              <a:t>No significant change between random</a:t>
            </a:r>
            <a:endParaRPr/>
          </a:p>
        </p:txBody>
      </p:sp>
      <p:pic>
        <p:nvPicPr>
          <p:cNvPr id="235" name="Google Shape;235;p39"/>
          <p:cNvPicPr preferRelativeResize="0"/>
          <p:nvPr/>
        </p:nvPicPr>
        <p:blipFill>
          <a:blip r:embed="rId3">
            <a:alphaModFix/>
          </a:blip>
          <a:stretch>
            <a:fillRect/>
          </a:stretch>
        </p:blipFill>
        <p:spPr>
          <a:xfrm>
            <a:off x="403925" y="1845538"/>
            <a:ext cx="6629400" cy="962025"/>
          </a:xfrm>
          <a:prstGeom prst="rect">
            <a:avLst/>
          </a:prstGeom>
          <a:noFill/>
          <a:ln>
            <a:noFill/>
          </a:ln>
        </p:spPr>
      </p:pic>
      <p:pic>
        <p:nvPicPr>
          <p:cNvPr id="236" name="Google Shape;236;p39"/>
          <p:cNvPicPr preferRelativeResize="0"/>
          <p:nvPr/>
        </p:nvPicPr>
        <p:blipFill>
          <a:blip r:embed="rId4">
            <a:alphaModFix/>
          </a:blip>
          <a:stretch>
            <a:fillRect/>
          </a:stretch>
        </p:blipFill>
        <p:spPr>
          <a:xfrm>
            <a:off x="75487" y="2807575"/>
            <a:ext cx="8993025" cy="168208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TESTING</a:t>
            </a:r>
            <a:endParaRPr/>
          </a:p>
        </p:txBody>
      </p:sp>
      <p:sp>
        <p:nvSpPr>
          <p:cNvPr id="242" name="Google Shape;242;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after 20 million steps (4 hours of training) over 100 games</a:t>
            </a:r>
            <a:endParaRPr/>
          </a:p>
          <a:p>
            <a:pPr indent="0" lvl="0" marL="0" rtl="0" algn="l">
              <a:spcBef>
                <a:spcPts val="1200"/>
              </a:spcBef>
              <a:spcAft>
                <a:spcPts val="1200"/>
              </a:spcAft>
              <a:buNone/>
            </a:pPr>
            <a:r>
              <a:t/>
            </a:r>
            <a:endParaRPr/>
          </a:p>
        </p:txBody>
      </p:sp>
      <p:pic>
        <p:nvPicPr>
          <p:cNvPr id="243" name="Google Shape;243;p40"/>
          <p:cNvPicPr preferRelativeResize="0"/>
          <p:nvPr/>
        </p:nvPicPr>
        <p:blipFill>
          <a:blip r:embed="rId3">
            <a:alphaModFix/>
          </a:blip>
          <a:stretch>
            <a:fillRect/>
          </a:stretch>
        </p:blipFill>
        <p:spPr>
          <a:xfrm>
            <a:off x="1176338" y="1696813"/>
            <a:ext cx="6791325" cy="923925"/>
          </a:xfrm>
          <a:prstGeom prst="rect">
            <a:avLst/>
          </a:prstGeom>
          <a:noFill/>
          <a:ln>
            <a:noFill/>
          </a:ln>
        </p:spPr>
      </p:pic>
      <p:pic>
        <p:nvPicPr>
          <p:cNvPr id="244" name="Google Shape;244;p40"/>
          <p:cNvPicPr preferRelativeResize="0"/>
          <p:nvPr/>
        </p:nvPicPr>
        <p:blipFill>
          <a:blip r:embed="rId4">
            <a:alphaModFix/>
          </a:blip>
          <a:stretch>
            <a:fillRect/>
          </a:stretch>
        </p:blipFill>
        <p:spPr>
          <a:xfrm>
            <a:off x="442361" y="2926650"/>
            <a:ext cx="8259250" cy="1337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FAILED REWARD FUNCTIONS</a:t>
            </a:r>
            <a:endParaRPr/>
          </a:p>
        </p:txBody>
      </p:sp>
      <p:sp>
        <p:nvSpPr>
          <p:cNvPr id="250" name="Google Shape;25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Attempt at LongTermMemory</a:t>
            </a:r>
            <a:endParaRPr/>
          </a:p>
          <a:p>
            <a:pPr indent="-342900" lvl="1" marL="914400" rtl="0" algn="l">
              <a:spcBef>
                <a:spcPts val="0"/>
              </a:spcBef>
              <a:spcAft>
                <a:spcPts val="0"/>
              </a:spcAft>
              <a:buSzPts val="1800"/>
              <a:buChar char="○"/>
            </a:pPr>
            <a:r>
              <a:rPr lang="en" sz="1800"/>
              <a:t>Kept track of </a:t>
            </a:r>
            <a:endParaRPr sz="1800"/>
          </a:p>
          <a:p>
            <a:pPr indent="-342900" lvl="2" marL="1371600" rtl="0" algn="l">
              <a:spcBef>
                <a:spcPts val="0"/>
              </a:spcBef>
              <a:spcAft>
                <a:spcPts val="0"/>
              </a:spcAft>
              <a:buSzPts val="1800"/>
              <a:buChar char="■"/>
            </a:pPr>
            <a:r>
              <a:rPr lang="en" sz="1800"/>
              <a:t>public victory points, </a:t>
            </a:r>
            <a:r>
              <a:rPr lang="en" sz="1800"/>
              <a:t>actual victory points, whether they have longest road, and whether they have largest army</a:t>
            </a:r>
            <a:endParaRPr sz="1800"/>
          </a:p>
          <a:p>
            <a:pPr indent="-342900" lvl="1" marL="914400" rtl="0" algn="l">
              <a:spcBef>
                <a:spcPts val="0"/>
              </a:spcBef>
              <a:spcAft>
                <a:spcPts val="0"/>
              </a:spcAft>
              <a:buSzPts val="1800"/>
              <a:buChar char="○"/>
            </a:pPr>
            <a:r>
              <a:rPr lang="en" sz="1800"/>
              <a:t>Mid-game reward</a:t>
            </a:r>
            <a:endParaRPr sz="1800"/>
          </a:p>
          <a:p>
            <a:pPr indent="-342900" lvl="2" marL="1371600" rtl="0" algn="l">
              <a:spcBef>
                <a:spcPts val="0"/>
              </a:spcBef>
              <a:spcAft>
                <a:spcPts val="0"/>
              </a:spcAft>
              <a:buSzPts val="1800"/>
              <a:buChar char="■"/>
            </a:pPr>
            <a:r>
              <a:rPr lang="en" sz="1800"/>
              <a:t>Each step subracts reward by 0.01</a:t>
            </a:r>
            <a:endParaRPr sz="1800"/>
          </a:p>
          <a:p>
            <a:pPr indent="-342900" lvl="2" marL="1371600" rtl="0" algn="l">
              <a:spcBef>
                <a:spcPts val="0"/>
              </a:spcBef>
              <a:spcAft>
                <a:spcPts val="0"/>
              </a:spcAft>
              <a:buSzPts val="1800"/>
              <a:buChar char="■"/>
            </a:pPr>
            <a:r>
              <a:rPr lang="en" sz="1800"/>
              <a:t>+ 1.5 times change in VP</a:t>
            </a:r>
            <a:endParaRPr sz="1800"/>
          </a:p>
          <a:p>
            <a:pPr indent="-342900" lvl="2" marL="1371600" rtl="0" algn="l">
              <a:spcBef>
                <a:spcPts val="0"/>
              </a:spcBef>
              <a:spcAft>
                <a:spcPts val="0"/>
              </a:spcAft>
              <a:buSzPts val="1800"/>
              <a:buChar char="■"/>
            </a:pPr>
            <a:r>
              <a:rPr lang="en" sz="1800"/>
              <a:t>+ 0.75 plus for longest road (-0.75 for losing it)</a:t>
            </a:r>
            <a:endParaRPr sz="1800"/>
          </a:p>
          <a:p>
            <a:pPr indent="-342900" lvl="2" marL="1371600" rtl="0" algn="l">
              <a:spcBef>
                <a:spcPts val="0"/>
              </a:spcBef>
              <a:spcAft>
                <a:spcPts val="0"/>
              </a:spcAft>
              <a:buSzPts val="1800"/>
              <a:buChar char="■"/>
            </a:pPr>
            <a:r>
              <a:rPr lang="en" sz="1800"/>
              <a:t>+ 0.75 plus for largest army (0.75 for losing it)</a:t>
            </a:r>
            <a:endParaRPr sz="1800"/>
          </a:p>
          <a:p>
            <a:pPr indent="-342900" lvl="2" marL="1371600" rtl="0" algn="l">
              <a:spcBef>
                <a:spcPts val="0"/>
              </a:spcBef>
              <a:spcAft>
                <a:spcPts val="0"/>
              </a:spcAft>
              <a:buSzPts val="1800"/>
              <a:buChar char="■"/>
            </a:pPr>
            <a:r>
              <a:rPr lang="en" sz="1800"/>
              <a:t>± 20 points for losing/winning</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FAILED REWARD FUNCTIONS</a:t>
            </a:r>
            <a:endParaRPr/>
          </a:p>
          <a:p>
            <a:pPr indent="0" lvl="0" marL="0" rtl="0" algn="l">
              <a:spcBef>
                <a:spcPts val="0"/>
              </a:spcBef>
              <a:spcAft>
                <a:spcPts val="0"/>
              </a:spcAft>
              <a:buNone/>
            </a:pPr>
            <a:r>
              <a:t/>
            </a:r>
            <a:endParaRPr/>
          </a:p>
        </p:txBody>
      </p:sp>
      <p:sp>
        <p:nvSpPr>
          <p:cNvPr id="256" name="Google Shape;25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Third attempt, after failure with a complex reward function (</a:t>
            </a:r>
            <a:endParaRPr/>
          </a:p>
          <a:p>
            <a:pPr indent="-342900" lvl="1" marL="914400" rtl="0" algn="l">
              <a:spcBef>
                <a:spcPts val="0"/>
              </a:spcBef>
              <a:spcAft>
                <a:spcPts val="0"/>
              </a:spcAft>
              <a:buSzPts val="1800"/>
              <a:buChar char="○"/>
            </a:pPr>
            <a:r>
              <a:rPr lang="en" sz="1800"/>
              <a:t>+ 0.2 times change in VP</a:t>
            </a:r>
            <a:endParaRPr sz="1800"/>
          </a:p>
          <a:p>
            <a:pPr indent="-342900" lvl="1" marL="914400" rtl="0" algn="l">
              <a:spcBef>
                <a:spcPts val="0"/>
              </a:spcBef>
              <a:spcAft>
                <a:spcPts val="0"/>
              </a:spcAft>
              <a:buSzPts val="1800"/>
              <a:buChar char="○"/>
            </a:pPr>
            <a:r>
              <a:rPr lang="en" sz="1800"/>
              <a:t>Win adds 10 points</a:t>
            </a:r>
            <a:endParaRPr sz="1800"/>
          </a:p>
          <a:p>
            <a:pPr indent="-342900" lvl="1" marL="914400" rtl="0" algn="l">
              <a:spcBef>
                <a:spcPts val="0"/>
              </a:spcBef>
              <a:spcAft>
                <a:spcPts val="0"/>
              </a:spcAft>
              <a:buSzPts val="1800"/>
              <a:buChar char="○"/>
            </a:pPr>
            <a:r>
              <a:rPr lang="en" sz="1800"/>
              <a:t>Loss subracts 10 points</a:t>
            </a:r>
            <a:endParaRPr sz="1800"/>
          </a:p>
        </p:txBody>
      </p:sp>
      <p:pic>
        <p:nvPicPr>
          <p:cNvPr id="257" name="Google Shape;257;p42" title="Screenshot 2026-04-22 at 10.41.31 PM.png"/>
          <p:cNvPicPr preferRelativeResize="0"/>
          <p:nvPr/>
        </p:nvPicPr>
        <p:blipFill>
          <a:blip r:embed="rId3">
            <a:alphaModFix/>
          </a:blip>
          <a:stretch>
            <a:fillRect/>
          </a:stretch>
        </p:blipFill>
        <p:spPr>
          <a:xfrm>
            <a:off x="554575" y="2827476"/>
            <a:ext cx="7938176" cy="1661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IMPROVED REWARD FUNCTION</a:t>
            </a:r>
            <a:endParaRPr/>
          </a:p>
        </p:txBody>
      </p:sp>
      <p:sp>
        <p:nvSpPr>
          <p:cNvPr id="263" name="Google Shape;263;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Win → + 10 </a:t>
            </a:r>
            <a:endParaRPr/>
          </a:p>
          <a:p>
            <a:pPr indent="-342900" lvl="0" marL="457200" rtl="0" algn="l">
              <a:spcBef>
                <a:spcPts val="0"/>
              </a:spcBef>
              <a:spcAft>
                <a:spcPts val="0"/>
              </a:spcAft>
              <a:buSzPts val="1800"/>
              <a:buChar char="●"/>
            </a:pPr>
            <a:r>
              <a:rPr lang="en"/>
              <a:t>Loss → - 10</a:t>
            </a:r>
            <a:endParaRPr/>
          </a:p>
          <a:p>
            <a:pPr indent="-342900" lvl="1" marL="914400" rtl="0" algn="l">
              <a:spcBef>
                <a:spcPts val="0"/>
              </a:spcBef>
              <a:spcAft>
                <a:spcPts val="0"/>
              </a:spcAft>
              <a:buSzPts val="1800"/>
              <a:buChar char="○"/>
            </a:pPr>
            <a:r>
              <a:rPr lang="en" sz="1800"/>
              <a:t>Other rewards for during games</a:t>
            </a:r>
            <a:endParaRPr sz="1800"/>
          </a:p>
          <a:p>
            <a:pPr indent="-342900" lvl="2" marL="1371600" rtl="0" algn="l">
              <a:spcBef>
                <a:spcPts val="0"/>
              </a:spcBef>
              <a:spcAft>
                <a:spcPts val="0"/>
              </a:spcAft>
              <a:buSzPts val="1800"/>
              <a:buChar char="■"/>
            </a:pPr>
            <a:r>
              <a:rPr lang="en" sz="1800"/>
              <a:t>+2.5 times change in VP</a:t>
            </a:r>
            <a:endParaRPr sz="1800"/>
          </a:p>
          <a:p>
            <a:pPr indent="-342900" lvl="2" marL="1371600" rtl="0" algn="l">
              <a:spcBef>
                <a:spcPts val="0"/>
              </a:spcBef>
              <a:spcAft>
                <a:spcPts val="0"/>
              </a:spcAft>
              <a:buSzPts val="1800"/>
              <a:buChar char="■"/>
            </a:pPr>
            <a:r>
              <a:rPr lang="en" sz="1800"/>
              <a:t>+1.5 times change in settlements</a:t>
            </a:r>
            <a:endParaRPr sz="1800"/>
          </a:p>
          <a:p>
            <a:pPr indent="-342900" lvl="2" marL="1371600" rtl="0" algn="l">
              <a:spcBef>
                <a:spcPts val="0"/>
              </a:spcBef>
              <a:spcAft>
                <a:spcPts val="0"/>
              </a:spcAft>
              <a:buSzPts val="1800"/>
              <a:buChar char="■"/>
            </a:pPr>
            <a:r>
              <a:rPr lang="en" sz="1800"/>
              <a:t>+2.5 times change in cities</a:t>
            </a:r>
            <a:endParaRPr sz="1800"/>
          </a:p>
          <a:p>
            <a:pPr indent="-342900" lvl="0" marL="457200" rtl="0" algn="l">
              <a:spcBef>
                <a:spcPts val="0"/>
              </a:spcBef>
              <a:spcAft>
                <a:spcPts val="0"/>
              </a:spcAft>
              <a:buSzPts val="1800"/>
              <a:buChar char="●"/>
            </a:pPr>
            <a:r>
              <a:rPr lang="en"/>
              <a:t>Overall this new reward function is trying to keep the code relatively simple while keeping </a:t>
            </a:r>
            <a:r>
              <a:rPr lang="en"/>
              <a:t>functionality</a:t>
            </a:r>
            <a:endParaRPr sz="1800"/>
          </a:p>
        </p:txBody>
      </p:sp>
      <p:pic>
        <p:nvPicPr>
          <p:cNvPr id="264" name="Google Shape;264;p43" title="Screenshot 2026-04-22 at 10.31.29 PM.png"/>
          <p:cNvPicPr preferRelativeResize="0"/>
          <p:nvPr/>
        </p:nvPicPr>
        <p:blipFill>
          <a:blip r:embed="rId3">
            <a:alphaModFix/>
          </a:blip>
          <a:stretch>
            <a:fillRect/>
          </a:stretch>
        </p:blipFill>
        <p:spPr>
          <a:xfrm>
            <a:off x="5020275" y="1585249"/>
            <a:ext cx="3812025" cy="817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COMPARING REWARD FUNCTIONS</a:t>
            </a:r>
            <a:endParaRPr/>
          </a:p>
        </p:txBody>
      </p:sp>
      <p:sp>
        <p:nvSpPr>
          <p:cNvPr id="270" name="Google Shape;270;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Trials done with a baseline of 1 hour of training with 100 games against three randoms.</a:t>
            </a:r>
            <a:endParaRPr/>
          </a:p>
          <a:p>
            <a:pPr indent="0" lvl="0" marL="0" rtl="0" algn="l">
              <a:spcBef>
                <a:spcPts val="1200"/>
              </a:spcBef>
              <a:spcAft>
                <a:spcPts val="1200"/>
              </a:spcAft>
              <a:buNone/>
            </a:pPr>
            <a:r>
              <a:t/>
            </a:r>
            <a:endParaRPr/>
          </a:p>
        </p:txBody>
      </p:sp>
      <p:pic>
        <p:nvPicPr>
          <p:cNvPr id="271" name="Google Shape;271;p44" title="Chart"/>
          <p:cNvPicPr preferRelativeResize="0"/>
          <p:nvPr/>
        </p:nvPicPr>
        <p:blipFill>
          <a:blip r:embed="rId3">
            <a:alphaModFix/>
          </a:blip>
          <a:stretch>
            <a:fillRect/>
          </a:stretch>
        </p:blipFill>
        <p:spPr>
          <a:xfrm>
            <a:off x="1809398" y="1620250"/>
            <a:ext cx="5525196" cy="3416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TRAINING/TESTING WITH HARDER MODELS</a:t>
            </a:r>
            <a:endParaRPr/>
          </a:p>
        </p:txBody>
      </p:sp>
      <p:pic>
        <p:nvPicPr>
          <p:cNvPr id="277" name="Google Shape;277;p45"/>
          <p:cNvPicPr preferRelativeResize="0"/>
          <p:nvPr/>
        </p:nvPicPr>
        <p:blipFill>
          <a:blip r:embed="rId3">
            <a:alphaModFix/>
          </a:blip>
          <a:stretch>
            <a:fillRect/>
          </a:stretch>
        </p:blipFill>
        <p:spPr>
          <a:xfrm>
            <a:off x="904875" y="1715725"/>
            <a:ext cx="7334250" cy="3371850"/>
          </a:xfrm>
          <a:prstGeom prst="rect">
            <a:avLst/>
          </a:prstGeom>
          <a:noFill/>
          <a:ln>
            <a:noFill/>
          </a:ln>
        </p:spPr>
      </p:pic>
      <p:sp>
        <p:nvSpPr>
          <p:cNvPr id="278" name="Google Shape;278;p45"/>
          <p:cNvSpPr txBox="1"/>
          <p:nvPr/>
        </p:nvSpPr>
        <p:spPr>
          <a:xfrm>
            <a:off x="306050" y="1431500"/>
            <a:ext cx="8194200" cy="3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AI Leaderboard given by Catanatron</a:t>
            </a:r>
            <a:endParaRPr sz="1800">
              <a:solidFill>
                <a:schemeClr val="dk2"/>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TRAINING PROCESS</a:t>
            </a:r>
            <a:endParaRPr/>
          </a:p>
        </p:txBody>
      </p:sp>
      <p:sp>
        <p:nvSpPr>
          <p:cNvPr id="284" name="Google Shape;28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3" lvl="0" marL="457200" rtl="0" algn="l">
              <a:spcBef>
                <a:spcPts val="0"/>
              </a:spcBef>
              <a:spcAft>
                <a:spcPts val="0"/>
              </a:spcAft>
              <a:buSzPct val="100000"/>
              <a:buAutoNum type="arabicPeriod"/>
            </a:pPr>
            <a:r>
              <a:rPr lang="en"/>
              <a:t>Trained against 3 random bots for 10 million steps (about 2 hours)</a:t>
            </a:r>
            <a:endParaRPr/>
          </a:p>
          <a:p>
            <a:pPr indent="0" lvl="0" marL="457200" rtl="0" algn="l">
              <a:spcBef>
                <a:spcPts val="1200"/>
              </a:spcBef>
              <a:spcAft>
                <a:spcPts val="0"/>
              </a:spcAft>
              <a:buNone/>
            </a:pPr>
            <a:r>
              <a:t/>
            </a:r>
            <a:endParaRPr/>
          </a:p>
          <a:p>
            <a:pPr indent="-317183" lvl="0" marL="457200" rtl="0" algn="l">
              <a:spcBef>
                <a:spcPts val="1200"/>
              </a:spcBef>
              <a:spcAft>
                <a:spcPts val="0"/>
              </a:spcAft>
              <a:buSzPct val="100000"/>
              <a:buAutoNum type="arabicPeriod"/>
            </a:pPr>
            <a:r>
              <a:rPr lang="en"/>
              <a:t>Trained against 1 weighted random bot, and 2 random bots for 6 million steps (about 1 hour)</a:t>
            </a:r>
            <a:endParaRPr/>
          </a:p>
          <a:p>
            <a:pPr indent="0" lvl="0" marL="457200" rtl="0" algn="l">
              <a:spcBef>
                <a:spcPts val="1200"/>
              </a:spcBef>
              <a:spcAft>
                <a:spcPts val="0"/>
              </a:spcAft>
              <a:buNone/>
            </a:pPr>
            <a:r>
              <a:t/>
            </a:r>
            <a:endParaRPr/>
          </a:p>
          <a:p>
            <a:pPr indent="-317183" lvl="0" marL="457200" rtl="0" algn="l">
              <a:spcBef>
                <a:spcPts val="1200"/>
              </a:spcBef>
              <a:spcAft>
                <a:spcPts val="0"/>
              </a:spcAft>
              <a:buSzPct val="100000"/>
              <a:buAutoNum type="arabicPeriod"/>
            </a:pPr>
            <a:r>
              <a:rPr lang="en"/>
              <a:t>Trained against 3 weighted random bots for 2 million steps (&lt;1 hour)</a:t>
            </a:r>
            <a:endParaRPr/>
          </a:p>
          <a:p>
            <a:pPr indent="0" lvl="0" marL="457200" rtl="0" algn="l">
              <a:spcBef>
                <a:spcPts val="1200"/>
              </a:spcBef>
              <a:spcAft>
                <a:spcPts val="0"/>
              </a:spcAft>
              <a:buNone/>
            </a:pPr>
            <a:r>
              <a:t/>
            </a:r>
            <a:endParaRPr/>
          </a:p>
          <a:p>
            <a:pPr indent="-317183" lvl="0" marL="457200" rtl="0" algn="l">
              <a:spcBef>
                <a:spcPts val="1200"/>
              </a:spcBef>
              <a:spcAft>
                <a:spcPts val="0"/>
              </a:spcAft>
              <a:buSzPct val="100000"/>
              <a:buAutoNum type="arabicPeriod"/>
            </a:pPr>
            <a:r>
              <a:rPr lang="en"/>
              <a:t>Trained against 1 ValueFunction bot and 2 weighted random bots for 2 million steps (about 4 hours)</a:t>
            </a:r>
            <a:endParaRPr/>
          </a:p>
          <a:p>
            <a:pPr indent="0" lvl="0" marL="457200" rtl="0" algn="l">
              <a:spcBef>
                <a:spcPts val="1200"/>
              </a:spcBef>
              <a:spcAft>
                <a:spcPts val="0"/>
              </a:spcAft>
              <a:buNone/>
            </a:pPr>
            <a:r>
              <a:t/>
            </a:r>
            <a:endParaRPr/>
          </a:p>
          <a:p>
            <a:pPr indent="-317183" lvl="0" marL="457200" rtl="0" algn="l">
              <a:spcBef>
                <a:spcPts val="1200"/>
              </a:spcBef>
              <a:spcAft>
                <a:spcPts val="0"/>
              </a:spcAft>
              <a:buSzPct val="100000"/>
              <a:buAutoNum type="arabicPeriod"/>
            </a:pPr>
            <a:r>
              <a:rPr lang="en"/>
              <a:t>Trained against 2 ValueFunction bots and 1 weighted random bot for 2 million steps (about 4 hours)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TRAINING PROCESS</a:t>
            </a:r>
            <a:endParaRPr/>
          </a:p>
        </p:txBody>
      </p:sp>
      <p:sp>
        <p:nvSpPr>
          <p:cNvPr id="290" name="Google Shape;29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Why does ValueFunction training take so long?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Since we ask that bot to </a:t>
            </a:r>
            <a:r>
              <a:rPr lang="en"/>
              <a:t>evaluate</a:t>
            </a:r>
            <a:r>
              <a:rPr lang="en"/>
              <a:t> its board and make a move at every single turn, the </a:t>
            </a:r>
            <a:r>
              <a:rPr lang="en"/>
              <a:t>computation</a:t>
            </a:r>
            <a:r>
              <a:rPr lang="en"/>
              <a:t> required heavily slows down training.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Compared to WeightedRandom and Random, its 5 times slower per ValueFunction bot when training against it.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MODEL THROUGH TRAINING</a:t>
            </a:r>
            <a:endParaRPr/>
          </a:p>
        </p:txBody>
      </p:sp>
      <p:pic>
        <p:nvPicPr>
          <p:cNvPr id="296" name="Google Shape;296;p48" title="Chart"/>
          <p:cNvPicPr preferRelativeResize="0"/>
          <p:nvPr/>
        </p:nvPicPr>
        <p:blipFill>
          <a:blip r:embed="rId3">
            <a:alphaModFix/>
          </a:blip>
          <a:stretch>
            <a:fillRect/>
          </a:stretch>
        </p:blipFill>
        <p:spPr>
          <a:xfrm>
            <a:off x="1629575" y="1017725"/>
            <a:ext cx="5370951" cy="398489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MODEL</a:t>
            </a:r>
            <a:endParaRPr/>
          </a:p>
        </p:txBody>
      </p:sp>
      <p:sp>
        <p:nvSpPr>
          <p:cNvPr id="302" name="Google Shape;30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1000 Games against Random.</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1000 games against WeightedRandom</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03" name="Google Shape;303;p49" title="Screenshot 2026-05-08 at 7.53.25 AM.png"/>
          <p:cNvPicPr preferRelativeResize="0"/>
          <p:nvPr/>
        </p:nvPicPr>
        <p:blipFill>
          <a:blip r:embed="rId3">
            <a:alphaModFix/>
          </a:blip>
          <a:stretch>
            <a:fillRect/>
          </a:stretch>
        </p:blipFill>
        <p:spPr>
          <a:xfrm>
            <a:off x="0" y="1676952"/>
            <a:ext cx="9144001" cy="1266345"/>
          </a:xfrm>
          <a:prstGeom prst="rect">
            <a:avLst/>
          </a:prstGeom>
          <a:noFill/>
          <a:ln>
            <a:noFill/>
          </a:ln>
        </p:spPr>
      </p:pic>
      <p:pic>
        <p:nvPicPr>
          <p:cNvPr id="304" name="Google Shape;304;p49" title="Screenshot 2026-05-08 at 7.55.15 AM.png"/>
          <p:cNvPicPr preferRelativeResize="0"/>
          <p:nvPr/>
        </p:nvPicPr>
        <p:blipFill>
          <a:blip r:embed="rId4">
            <a:alphaModFix/>
          </a:blip>
          <a:stretch>
            <a:fillRect/>
          </a:stretch>
        </p:blipFill>
        <p:spPr>
          <a:xfrm>
            <a:off x="0" y="3602529"/>
            <a:ext cx="9144001" cy="123359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MODEL</a:t>
            </a:r>
            <a:endParaRPr/>
          </a:p>
        </p:txBody>
      </p:sp>
      <p:sp>
        <p:nvSpPr>
          <p:cNvPr id="310" name="Google Shape;310;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Against MCTS. (given to have a 60% winrate against WeightedRandom).</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Against ValueFunction (given to have a ~100% winrate against MCTS) </a:t>
            </a:r>
            <a:endParaRPr/>
          </a:p>
        </p:txBody>
      </p:sp>
      <p:pic>
        <p:nvPicPr>
          <p:cNvPr id="311" name="Google Shape;311;p50" title="Screenshot 2026-05-07 at 11.37.08 PM.png"/>
          <p:cNvPicPr preferRelativeResize="0"/>
          <p:nvPr/>
        </p:nvPicPr>
        <p:blipFill>
          <a:blip r:embed="rId3">
            <a:alphaModFix/>
          </a:blip>
          <a:stretch>
            <a:fillRect/>
          </a:stretch>
        </p:blipFill>
        <p:spPr>
          <a:xfrm>
            <a:off x="0" y="1715633"/>
            <a:ext cx="9144000" cy="1144883"/>
          </a:xfrm>
          <a:prstGeom prst="rect">
            <a:avLst/>
          </a:prstGeom>
          <a:noFill/>
          <a:ln>
            <a:noFill/>
          </a:ln>
        </p:spPr>
      </p:pic>
      <p:pic>
        <p:nvPicPr>
          <p:cNvPr id="312" name="Google Shape;312;p50" title="Screenshot 2026-05-08 at 8.00.46 AM.png"/>
          <p:cNvPicPr preferRelativeResize="0"/>
          <p:nvPr/>
        </p:nvPicPr>
        <p:blipFill>
          <a:blip r:embed="rId4">
            <a:alphaModFix/>
          </a:blip>
          <a:stretch>
            <a:fillRect/>
          </a:stretch>
        </p:blipFill>
        <p:spPr>
          <a:xfrm>
            <a:off x="0" y="3816075"/>
            <a:ext cx="9144000" cy="1193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WEBSITE</a:t>
            </a:r>
            <a:endParaRPr/>
          </a:p>
          <a:p>
            <a:pPr indent="0" lvl="0" marL="0" rtl="0" algn="l">
              <a:spcBef>
                <a:spcPts val="0"/>
              </a:spcBef>
              <a:spcAft>
                <a:spcPts val="0"/>
              </a:spcAft>
              <a:buNone/>
            </a:pPr>
            <a:r>
              <a:rPr lang="en"/>
              <a:t>DEMO</a:t>
            </a:r>
            <a:endParaRPr/>
          </a:p>
        </p:txBody>
      </p:sp>
      <p:pic>
        <p:nvPicPr>
          <p:cNvPr id="318" name="Google Shape;318;p51" title="NewCatanDemoVideo.mp4">
            <a:hlinkClick r:id="rId3"/>
          </p:cNvPr>
          <p:cNvPicPr preferRelativeResize="0"/>
          <p:nvPr/>
        </p:nvPicPr>
        <p:blipFill>
          <a:blip r:embed="rId4">
            <a:alphaModFix/>
          </a:blip>
          <a:stretch>
            <a:fillRect/>
          </a:stretch>
        </p:blipFill>
        <p:spPr>
          <a:xfrm>
            <a:off x="3755850" y="773900"/>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 name="Shape 322"/>
        <p:cNvGrpSpPr/>
        <p:nvPr/>
      </p:nvGrpSpPr>
      <p:grpSpPr>
        <a:xfrm>
          <a:off x="0" y="0"/>
          <a:ext cx="0" cy="0"/>
          <a:chOff x="0" y="0"/>
          <a:chExt cx="0" cy="0"/>
        </a:xfrm>
      </p:grpSpPr>
      <p:sp>
        <p:nvSpPr>
          <p:cNvPr id="323" name="Google Shape;32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Ours BETTER?</a:t>
            </a:r>
            <a:endParaRPr/>
          </a:p>
        </p:txBody>
      </p:sp>
      <p:sp>
        <p:nvSpPr>
          <p:cNvPr id="324" name="Google Shape;324;p52"/>
          <p:cNvSpPr txBox="1"/>
          <p:nvPr>
            <p:ph idx="1" type="body"/>
          </p:nvPr>
        </p:nvSpPr>
        <p:spPr>
          <a:xfrm>
            <a:off x="311700" y="1048875"/>
            <a:ext cx="62718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Our model is significantly faster to </a:t>
            </a:r>
            <a:r>
              <a:rPr lang="en" sz="2200"/>
              <a:t>evaluate</a:t>
            </a:r>
            <a:r>
              <a:rPr lang="en" sz="2200"/>
              <a:t> a move compared to stronger models, like MonteCarloTreeSearch and ValueFunction </a:t>
            </a:r>
            <a:endParaRPr sz="2200"/>
          </a:p>
          <a:p>
            <a:pPr indent="-368300" lvl="0" marL="457200" rtl="0" algn="l">
              <a:spcBef>
                <a:spcPts val="0"/>
              </a:spcBef>
              <a:spcAft>
                <a:spcPts val="0"/>
              </a:spcAft>
              <a:buSzPts val="2200"/>
              <a:buChar char="●"/>
            </a:pPr>
            <a:r>
              <a:rPr lang="en" sz="2200"/>
              <a:t>Our model </a:t>
            </a:r>
            <a:r>
              <a:rPr lang="en" sz="2200"/>
              <a:t>prioritizes</a:t>
            </a:r>
            <a:r>
              <a:rPr lang="en" sz="2200"/>
              <a:t> cities, which give double the win points over settlements, allowing for easier wins</a:t>
            </a:r>
            <a:endParaRPr sz="2200"/>
          </a:p>
        </p:txBody>
      </p:sp>
      <p:pic>
        <p:nvPicPr>
          <p:cNvPr id="325" name="Google Shape;325;p52"/>
          <p:cNvPicPr preferRelativeResize="0"/>
          <p:nvPr/>
        </p:nvPicPr>
        <p:blipFill>
          <a:blip r:embed="rId3">
            <a:alphaModFix/>
          </a:blip>
          <a:stretch>
            <a:fillRect/>
          </a:stretch>
        </p:blipFill>
        <p:spPr>
          <a:xfrm>
            <a:off x="6583500" y="1017725"/>
            <a:ext cx="2560600" cy="34787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331" name="Google Shape;331;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Training the model</a:t>
            </a:r>
            <a:endParaRPr sz="2200"/>
          </a:p>
          <a:p>
            <a:pPr indent="-368300" lvl="1" marL="914400" rtl="0" algn="l">
              <a:spcBef>
                <a:spcPts val="0"/>
              </a:spcBef>
              <a:spcAft>
                <a:spcPts val="0"/>
              </a:spcAft>
              <a:buSzPts val="2200"/>
              <a:buChar char="○"/>
            </a:pPr>
            <a:r>
              <a:rPr lang="en" sz="2200"/>
              <a:t>Training takes a long time</a:t>
            </a:r>
            <a:endParaRPr sz="2200"/>
          </a:p>
          <a:p>
            <a:pPr indent="-368300" lvl="1" marL="914400" rtl="0" algn="l">
              <a:spcBef>
                <a:spcPts val="0"/>
              </a:spcBef>
              <a:spcAft>
                <a:spcPts val="0"/>
              </a:spcAft>
              <a:buSzPts val="2200"/>
              <a:buChar char="○"/>
            </a:pPr>
            <a:r>
              <a:rPr lang="en" sz="2200"/>
              <a:t>Opponent bot speed is a huge factor in training</a:t>
            </a:r>
            <a:endParaRPr sz="2200"/>
          </a:p>
          <a:p>
            <a:pPr indent="-368300" lvl="0" marL="457200" rtl="0" algn="l">
              <a:spcBef>
                <a:spcPts val="0"/>
              </a:spcBef>
              <a:spcAft>
                <a:spcPts val="0"/>
              </a:spcAft>
              <a:buSzPts val="2200"/>
              <a:buChar char="●"/>
            </a:pPr>
            <a:r>
              <a:rPr lang="en" sz="2200"/>
              <a:t>Website doesn’t allow for training of the model </a:t>
            </a:r>
            <a:endParaRPr sz="2200"/>
          </a:p>
          <a:p>
            <a:pPr indent="-368300" lvl="0" marL="457200" rtl="0" algn="l">
              <a:spcBef>
                <a:spcPts val="0"/>
              </a:spcBef>
              <a:spcAft>
                <a:spcPts val="0"/>
              </a:spcAft>
              <a:buSzPts val="2200"/>
              <a:buChar char="●"/>
            </a:pPr>
            <a:r>
              <a:rPr lang="en" sz="2200"/>
              <a:t>There is no guarantee that more </a:t>
            </a:r>
            <a:r>
              <a:rPr lang="en" sz="2200"/>
              <a:t>training</a:t>
            </a:r>
            <a:r>
              <a:rPr lang="en" sz="2200"/>
              <a:t> will lead to linearly increasing </a:t>
            </a:r>
            <a:r>
              <a:rPr lang="en" sz="2200"/>
              <a:t>accuracy</a:t>
            </a:r>
            <a:r>
              <a:rPr lang="en" sz="2200"/>
              <a:t> against ValueFunction (although that is currently observed)</a:t>
            </a:r>
            <a:endParaRPr sz="2200"/>
          </a:p>
          <a:p>
            <a:pPr indent="0" lvl="0" marL="457200" rtl="0" algn="l">
              <a:spcBef>
                <a:spcPts val="1200"/>
              </a:spcBef>
              <a:spcAft>
                <a:spcPts val="1200"/>
              </a:spcAft>
              <a:buNone/>
            </a:pPr>
            <a:r>
              <a:t/>
            </a:r>
            <a:endParaRPr sz="2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r>
              <a:rPr lang="en"/>
              <a:t> </a:t>
            </a:r>
            <a:endParaRPr/>
          </a:p>
        </p:txBody>
      </p:sp>
      <p:sp>
        <p:nvSpPr>
          <p:cNvPr id="337" name="Google Shape;337;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Arial"/>
                <a:ea typeface="Arial"/>
                <a:cs typeface="Arial"/>
                <a:sym typeface="Arial"/>
              </a:rPr>
              <a:t>Reward design had a major effect on performance.</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In one-hour tests against random bots:</a:t>
            </a:r>
            <a:endParaRPr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Arial"/>
                <a:ea typeface="Arial"/>
                <a:cs typeface="Arial"/>
                <a:sym typeface="Arial"/>
              </a:rPr>
              <a:t>Basic reward: 25% win rate</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Long-term reward: 7% win rate</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Third reward: 36% win rate</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Improved reward: 66% win rate</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Longer training improved performance against simple bots.</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Final model performed strongly against Random, WeightedRandom, and MCTS bots.</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Model won about 80% against MCTS, but only 5% against ValueFunction.</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Overall, the model improved beyond random play but still struggled against stronger strategy-based bots.</a:t>
            </a:r>
            <a:endParaRPr sz="1500">
              <a:solidFill>
                <a:srgbClr val="000000"/>
              </a:solidFill>
              <a:latin typeface="Arial"/>
              <a:ea typeface="Arial"/>
              <a:cs typeface="Arial"/>
              <a:sym typeface="Arial"/>
            </a:endParaRPr>
          </a:p>
          <a:p>
            <a:pPr indent="0" lvl="0" marL="457200" rtl="0" algn="l">
              <a:spcBef>
                <a:spcPts val="1200"/>
              </a:spcBef>
              <a:spcAft>
                <a:spcPts val="1200"/>
              </a:spcAft>
              <a:buNone/>
            </a:pPr>
            <a:r>
              <a:t/>
            </a:r>
            <a:endParaRPr sz="2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5"/>
          <p:cNvSpPr txBox="1"/>
          <p:nvPr>
            <p:ph type="title"/>
          </p:nvPr>
        </p:nvSpPr>
        <p:spPr>
          <a:xfrm>
            <a:off x="401950" y="247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r>
              <a:rPr lang="en"/>
              <a:t>AND FUTURE WORK</a:t>
            </a:r>
            <a:endParaRPr/>
          </a:p>
        </p:txBody>
      </p:sp>
      <p:sp>
        <p:nvSpPr>
          <p:cNvPr id="343" name="Google Shape;343;p55"/>
          <p:cNvSpPr txBox="1"/>
          <p:nvPr>
            <p:ph idx="1" type="body"/>
          </p:nvPr>
        </p:nvSpPr>
        <p:spPr>
          <a:xfrm>
            <a:off x="252475" y="8202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200"/>
              <a:t>Our model can be placed right below ValueFunction, since it outperforms all of the below algorithms. </a:t>
            </a:r>
            <a:endParaRPr sz="2200"/>
          </a:p>
        </p:txBody>
      </p:sp>
      <p:pic>
        <p:nvPicPr>
          <p:cNvPr id="344" name="Google Shape;344;p55" title="Screenshot 2026-05-08 at 8.06.31 AM.png"/>
          <p:cNvPicPr preferRelativeResize="0"/>
          <p:nvPr/>
        </p:nvPicPr>
        <p:blipFill>
          <a:blip r:embed="rId3">
            <a:alphaModFix/>
          </a:blip>
          <a:stretch>
            <a:fillRect/>
          </a:stretch>
        </p:blipFill>
        <p:spPr>
          <a:xfrm>
            <a:off x="722488" y="1727102"/>
            <a:ext cx="7699024" cy="3416401"/>
          </a:xfrm>
          <a:prstGeom prst="rect">
            <a:avLst/>
          </a:prstGeom>
          <a:noFill/>
          <a:ln>
            <a:noFill/>
          </a:ln>
        </p:spPr>
      </p:pic>
      <p:sp>
        <p:nvSpPr>
          <p:cNvPr id="345" name="Google Shape;345;p55"/>
          <p:cNvSpPr/>
          <p:nvPr/>
        </p:nvSpPr>
        <p:spPr>
          <a:xfrm>
            <a:off x="78975" y="2853150"/>
            <a:ext cx="1105800" cy="197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AND FUTURE WORK</a:t>
            </a:r>
            <a:endParaRPr/>
          </a:p>
        </p:txBody>
      </p:sp>
      <p:sp>
        <p:nvSpPr>
          <p:cNvPr id="351" name="Google Shape;351;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Our website is currently being hosted online using Render web services</a:t>
            </a:r>
            <a:endParaRPr/>
          </a:p>
          <a:p>
            <a:pPr indent="-342900" lvl="0" marL="457200" rtl="0" algn="l">
              <a:spcBef>
                <a:spcPts val="0"/>
              </a:spcBef>
              <a:spcAft>
                <a:spcPts val="0"/>
              </a:spcAft>
              <a:buSzPts val="1800"/>
              <a:buChar char="●"/>
            </a:pPr>
            <a:r>
              <a:rPr lang="en"/>
              <a:t>Although it is hosted online, there can only be one game playing at a time</a:t>
            </a:r>
            <a:endParaRPr/>
          </a:p>
          <a:p>
            <a:pPr indent="0" lvl="0" marL="0" rtl="0" algn="l">
              <a:spcBef>
                <a:spcPts val="1200"/>
              </a:spcBef>
              <a:spcAft>
                <a:spcPts val="0"/>
              </a:spcAft>
              <a:buNone/>
            </a:pPr>
            <a:r>
              <a:rPr lang="en"/>
              <a:t>Future Work:</a:t>
            </a:r>
            <a:endParaRPr/>
          </a:p>
          <a:p>
            <a:pPr indent="-342900" lvl="0" marL="457200" rtl="0" algn="l">
              <a:spcBef>
                <a:spcPts val="1200"/>
              </a:spcBef>
              <a:spcAft>
                <a:spcPts val="0"/>
              </a:spcAft>
              <a:buSzPts val="1800"/>
              <a:buChar char="●"/>
            </a:pPr>
            <a:r>
              <a:rPr lang="en"/>
              <a:t>Train the model more on a stronger setup to speed up training time</a:t>
            </a:r>
            <a:endParaRPr/>
          </a:p>
          <a:p>
            <a:pPr indent="-342900" lvl="0" marL="457200" rtl="0" algn="l">
              <a:spcBef>
                <a:spcPts val="0"/>
              </a:spcBef>
              <a:spcAft>
                <a:spcPts val="0"/>
              </a:spcAft>
              <a:buSzPts val="1800"/>
              <a:buChar char="●"/>
            </a:pPr>
            <a:r>
              <a:rPr lang="en"/>
              <a:t>Implement Trading with the opponent instead of just the bank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357" name="Google Shape;357;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 </a:t>
            </a:r>
            <a:r>
              <a:rPr lang="en" sz="1100" u="sng">
                <a:solidFill>
                  <a:srgbClr val="1155CC"/>
                </a:solidFill>
                <a:latin typeface="Arial"/>
                <a:ea typeface="Arial"/>
                <a:cs typeface="Arial"/>
                <a:sym typeface="Arial"/>
                <a:hlinkClick r:id="rId3">
                  <a:extLst>
                    <a:ext uri="{A12FA001-AC4F-418D-AE19-62706E023703}">
                      <ahyp:hlinkClr val="tx"/>
                    </a:ext>
                  </a:extLst>
                </a:hlinkClick>
              </a:rPr>
              <a:t>https://settlers-rl.github.io/</a:t>
            </a:r>
            <a:endParaRPr sz="1100"/>
          </a:p>
          <a:p>
            <a:pPr indent="-298450" lvl="0" marL="457200" rtl="0" algn="l">
              <a:spcBef>
                <a:spcPts val="0"/>
              </a:spcBef>
              <a:spcAft>
                <a:spcPts val="0"/>
              </a:spcAft>
              <a:buSzPts val="1100"/>
              <a:buAutoNum type="arabicPeriod"/>
            </a:pPr>
            <a:r>
              <a:rPr lang="en" sz="1100" u="sng">
                <a:solidFill>
                  <a:srgbClr val="1155CC"/>
                </a:solidFill>
                <a:latin typeface="Arial"/>
                <a:ea typeface="Arial"/>
                <a:cs typeface="Arial"/>
                <a:sym typeface="Arial"/>
                <a:hlinkClick r:id="rId4">
                  <a:extLst>
                    <a:ext uri="{A12FA001-AC4F-418D-AE19-62706E023703}">
                      <ahyp:hlinkClr val="tx"/>
                    </a:ext>
                  </a:extLst>
                </a:hlinkClick>
              </a:rPr>
              <a:t>https://github.com/ikostrikov/pytorch-a2c-ppo-acktr-gail</a:t>
            </a:r>
            <a:endParaRPr sz="1100"/>
          </a:p>
          <a:p>
            <a:pPr indent="-298450" lvl="0" marL="457200" rtl="0" algn="l">
              <a:spcBef>
                <a:spcPts val="0"/>
              </a:spcBef>
              <a:spcAft>
                <a:spcPts val="0"/>
              </a:spcAft>
              <a:buSzPts val="1100"/>
              <a:buAutoNum type="arabicPeriod"/>
            </a:pPr>
            <a:r>
              <a:rPr lang="en" sz="1100">
                <a:solidFill>
                  <a:srgbClr val="000000"/>
                </a:solidFill>
                <a:latin typeface="Arial"/>
                <a:ea typeface="Arial"/>
                <a:cs typeface="Arial"/>
                <a:sym typeface="Arial"/>
              </a:rPr>
              <a:t> </a:t>
            </a:r>
            <a:r>
              <a:rPr lang="en" sz="1100" u="sng">
                <a:solidFill>
                  <a:srgbClr val="1155CC"/>
                </a:solidFill>
                <a:latin typeface="Arial"/>
                <a:ea typeface="Arial"/>
                <a:cs typeface="Arial"/>
                <a:sym typeface="Arial"/>
                <a:hlinkClick r:id="rId5">
                  <a:extLst>
                    <a:ext uri="{A12FA001-AC4F-418D-AE19-62706E023703}">
                      <ahyp:hlinkClr val="tx"/>
                    </a:ext>
                  </a:extLst>
                </a:hlinkClick>
              </a:rPr>
              <a:t>https://github.com/pytorch/rl</a:t>
            </a:r>
            <a:endParaRPr sz="1100"/>
          </a:p>
          <a:p>
            <a:pPr indent="-298450" lvl="0" marL="457200" rtl="0" algn="l">
              <a:spcBef>
                <a:spcPts val="0"/>
              </a:spcBef>
              <a:spcAft>
                <a:spcPts val="0"/>
              </a:spcAft>
              <a:buClr>
                <a:srgbClr val="000000"/>
              </a:buClr>
              <a:buSzPts val="1100"/>
              <a:buFont typeface="Arial"/>
              <a:buAutoNum type="arabicPeriod"/>
            </a:pPr>
            <a:r>
              <a:rPr lang="en" sz="1100" u="sng">
                <a:solidFill>
                  <a:srgbClr val="1155CC"/>
                </a:solidFill>
                <a:latin typeface="Arial"/>
                <a:ea typeface="Arial"/>
                <a:cs typeface="Arial"/>
                <a:sym typeface="Arial"/>
                <a:hlinkClick r:id="rId6">
                  <a:extLst>
                    <a:ext uri="{A12FA001-AC4F-418D-AE19-62706E023703}">
                      <ahyp:hlinkClr val="tx"/>
                    </a:ext>
                  </a:extLst>
                </a:hlinkClick>
              </a:rPr>
              <a:t>https://github.com/henrycharlesworth/settlers_of_catan_RL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u="sng">
                <a:solidFill>
                  <a:schemeClr val="hlink"/>
                </a:solidFill>
                <a:latin typeface="Arial"/>
                <a:ea typeface="Arial"/>
                <a:cs typeface="Arial"/>
                <a:sym typeface="Arial"/>
                <a:hlinkClick r:id="rId7"/>
              </a:rPr>
              <a:t>https://colonist.io </a:t>
            </a:r>
            <a:endParaRPr sz="1100">
              <a:solidFill>
                <a:srgbClr val="000000"/>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hlinkClick r:id="rId8"/>
              </a:rPr>
              <a:t>https://github.com/jdmonin/JSettlers2</a:t>
            </a:r>
            <a:endParaRPr sz="1100"/>
          </a:p>
          <a:p>
            <a:pPr indent="-298450" lvl="0" marL="457200" rtl="0" algn="l">
              <a:spcBef>
                <a:spcPts val="0"/>
              </a:spcBef>
              <a:spcAft>
                <a:spcPts val="0"/>
              </a:spcAft>
              <a:buSzPts val="1100"/>
              <a:buAutoNum type="arabicPeriod"/>
            </a:pPr>
            <a:r>
              <a:rPr lang="en" sz="1100" u="sng">
                <a:solidFill>
                  <a:schemeClr val="hlink"/>
                </a:solidFill>
                <a:hlinkClick r:id="rId9"/>
              </a:rPr>
              <a:t>https://github.com/bcollazo/catanatron</a:t>
            </a:r>
            <a:endParaRPr sz="1100"/>
          </a:p>
          <a:p>
            <a:pPr indent="-298450" lvl="0" marL="457200" rtl="0" algn="l">
              <a:spcBef>
                <a:spcPts val="0"/>
              </a:spcBef>
              <a:spcAft>
                <a:spcPts val="0"/>
              </a:spcAft>
              <a:buSzPts val="1100"/>
              <a:buAutoNum type="arabicPeriod"/>
            </a:pPr>
            <a:r>
              <a:rPr lang="en" sz="1100" u="sng">
                <a:solidFill>
                  <a:schemeClr val="hlink"/>
                </a:solidFill>
                <a:hlinkClick r:id="rId10"/>
              </a:rPr>
              <a:t>https://docs.pytorch.org/tutorials/beginner/basics/buildmodel_tutorial.html</a:t>
            </a:r>
            <a:endParaRPr sz="1100"/>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1"/>
              </a:rPr>
              <a:t>https://github.com/bcollazo/catanatron</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2"/>
              </a:rPr>
              <a:t>https://docs.catanatron.com/</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3"/>
              </a:rPr>
              <a:t>https://docs.catanatron.com/using-catanatron/interactive-blocks</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4"/>
              </a:rPr>
              <a:t>https://docs.catanatron.com/advanced/openapi</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5"/>
              </a:rPr>
              <a:t>https://gymnasium.farama.org/</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6"/>
              </a:rPr>
              <a:t>https://stable-baselines3.readthedocs.io/</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7"/>
              </a:rPr>
              <a:t>https://sb3-contrib.readthedocs.io/</a:t>
            </a:r>
            <a:endParaRPr sz="1100" u="sng">
              <a:solidFill>
                <a:schemeClr val="hlink"/>
              </a:solidFill>
              <a:latin typeface="Arial"/>
              <a:ea typeface="Arial"/>
              <a:cs typeface="Arial"/>
              <a:sym typeface="Arial"/>
            </a:endParaRPr>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hlinkClick r:id="rId18"/>
              </a:rPr>
              <a:t>https://github.com/Zawiop/canatron-syslab</a:t>
            </a:r>
            <a:endParaRPr sz="1100"/>
          </a:p>
          <a:p>
            <a:pPr indent="-298450" lvl="0" marL="457200" rtl="0" algn="l">
              <a:spcBef>
                <a:spcPts val="0"/>
              </a:spcBef>
              <a:spcAft>
                <a:spcPts val="0"/>
              </a:spcAft>
              <a:buSzPts val="1100"/>
              <a:buAutoNum type="arabicPeriod"/>
            </a:pPr>
            <a:r>
              <a:rPr lang="en" sz="1100" u="sng">
                <a:solidFill>
                  <a:schemeClr val="hlink"/>
                </a:solidFill>
                <a:latin typeface="Arial"/>
                <a:ea typeface="Arial"/>
                <a:cs typeface="Arial"/>
                <a:sym typeface="Arial"/>
              </a:rPr>
              <a:t>https://github.com/professorcool09/professorcool09.github.io</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b="1" sz="4200">
              <a:solidFill>
                <a:schemeClr val="accent1"/>
              </a:solidFill>
              <a:latin typeface="Amatic SC"/>
              <a:ea typeface="Amatic SC"/>
              <a:cs typeface="Amatic SC"/>
              <a:sym typeface="Amatic SC"/>
            </a:endParaRPr>
          </a:p>
          <a:p>
            <a:pPr indent="0" lvl="0" marL="0" rtl="0" algn="l">
              <a:lnSpc>
                <a:spcPct val="100000"/>
              </a:lnSpc>
              <a:spcBef>
                <a:spcPts val="0"/>
              </a:spcBef>
              <a:spcAft>
                <a:spcPts val="0"/>
              </a:spcAft>
              <a:buNone/>
            </a:pPr>
            <a:r>
              <a:rPr b="1" lang="en" sz="4200">
                <a:solidFill>
                  <a:schemeClr val="accent1"/>
                </a:solidFill>
                <a:latin typeface="Amatic SC"/>
                <a:ea typeface="Amatic SC"/>
                <a:cs typeface="Amatic SC"/>
                <a:sym typeface="Amatic SC"/>
              </a:rPr>
              <a:t>                                    </a:t>
            </a:r>
            <a:r>
              <a:rPr b="1" lang="en" sz="4200">
                <a:solidFill>
                  <a:schemeClr val="accent1"/>
                </a:solidFill>
                <a:latin typeface="Amatic SC"/>
                <a:ea typeface="Amatic SC"/>
                <a:cs typeface="Amatic SC"/>
                <a:sym typeface="Amatic SC"/>
              </a:rPr>
              <a:t>THANKS!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9"/>
          <p:cNvSpPr txBox="1"/>
          <p:nvPr>
            <p:ph type="title"/>
          </p:nvPr>
        </p:nvSpPr>
        <p:spPr>
          <a:xfrm>
            <a:off x="311700" y="2480550"/>
            <a:ext cx="8114400" cy="24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Q&amp;A</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